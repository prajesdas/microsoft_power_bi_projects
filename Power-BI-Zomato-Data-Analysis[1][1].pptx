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5"/>
  </p:notesMasterIdLst>
  <p:sldIdLst>
    <p:sldId id="269" r:id="rId3"/>
    <p:sldId id="256" r:id="rId4"/>
    <p:sldId id="257" r:id="rId6"/>
    <p:sldId id="258" r:id="rId7"/>
    <p:sldId id="259" r:id="rId8"/>
    <p:sldId id="260" r:id="rId9"/>
    <p:sldId id="261" r:id="rId10"/>
    <p:sldId id="265" r:id="rId11"/>
    <p:sldId id="262" r:id="rId12"/>
    <p:sldId id="263" r:id="rId13"/>
    <p:sldId id="264" r:id="rId14"/>
    <p:sldId id="280" r:id="rId15"/>
  </p:sldIdLst>
  <p:sldSz cx="14630400" cy="8229600"/>
  <p:notesSz cx="8229600" cy="14630400"/>
  <p:embeddedFontLst>
    <p:embeddedFont>
      <p:font typeface="Unbounded" pitchFamily="34" charset="-122"/>
      <p:bold r:id="rId19"/>
    </p:embeddedFont>
    <p:embeddedFont>
      <p:font typeface="Cabin" pitchFamily="34" charset="-122"/>
      <p:bold r:id="rId20"/>
    </p:embeddedFont>
    <p:embeddedFont>
      <p:font typeface="Unbounded" pitchFamily="34" charset="0"/>
      <p:bold r:id="rId21"/>
    </p:embeddedFont>
    <p:embeddedFont>
      <p:font typeface="Unbounded" pitchFamily="34" charset="-120"/>
      <p:bold r:id="rId22"/>
    </p:embeddedFont>
    <p:embeddedFont>
      <p:font typeface="Cabin" pitchFamily="34" charset="0"/>
      <p:bold r:id="rId23"/>
    </p:embeddedFont>
    <p:embeddedFont>
      <p:font typeface="Cabin" pitchFamily="34" charset="-120"/>
      <p:bold r:id="rId24"/>
    </p:embeddedFont>
    <p:embeddedFont>
      <p:font typeface="Calibri" panose="020F0502020204030204" charset="0"/>
      <p:regular r:id="rId25"/>
      <p:bold r:id="rId26"/>
      <p:italic r:id="rId27"/>
      <p:boldItalic r:id="rId2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45683"/>
    <a:srgbClr val="E67E8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8" Type="http://schemas.openxmlformats.org/officeDocument/2006/relationships/font" Target="fonts/font10.fntdata"/><Relationship Id="rId27" Type="http://schemas.openxmlformats.org/officeDocument/2006/relationships/font" Target="fonts/font9.fntdata"/><Relationship Id="rId26" Type="http://schemas.openxmlformats.org/officeDocument/2006/relationships/font" Target="fonts/font8.fntdata"/><Relationship Id="rId25" Type="http://schemas.openxmlformats.org/officeDocument/2006/relationships/font" Target="fonts/font7.fntdata"/><Relationship Id="rId24" Type="http://schemas.openxmlformats.org/officeDocument/2006/relationships/font" Target="fonts/font6.fntdata"/><Relationship Id="rId23" Type="http://schemas.openxmlformats.org/officeDocument/2006/relationships/font" Target="fonts/font5.fntdata"/><Relationship Id="rId22" Type="http://schemas.openxmlformats.org/officeDocument/2006/relationships/font" Target="fonts/font4.fntdata"/><Relationship Id="rId21" Type="http://schemas.openxmlformats.org/officeDocument/2006/relationships/font" Target="fonts/font3.fntdata"/><Relationship Id="rId20" Type="http://schemas.openxmlformats.org/officeDocument/2006/relationships/font" Target="fonts/font2.fntdata"/><Relationship Id="rId2" Type="http://schemas.openxmlformats.org/officeDocument/2006/relationships/theme" Target="theme/theme1.xml"/><Relationship Id="rId19" Type="http://schemas.openxmlformats.org/officeDocument/2006/relationships/font" Target="fonts/font1.fntdata"/><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2.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3.xml"/><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4.xml"/><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5.xml"/><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image" Target="../media/image11.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6.xml"/><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image" Target="../media/image13.png"/></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18.png"/><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8.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8" Type="http://schemas.openxmlformats.org/officeDocument/2006/relationships/notesSlide" Target="../notesSlides/notesSlide8.xml"/><Relationship Id="rId7" Type="http://schemas.openxmlformats.org/officeDocument/2006/relationships/slideLayout" Target="../slideLayouts/slideLayout9.xml"/><Relationship Id="rId6" Type="http://schemas.openxmlformats.org/officeDocument/2006/relationships/image" Target="../media/image6.png"/><Relationship Id="rId5" Type="http://schemas.openxmlformats.org/officeDocument/2006/relationships/image" Target="../media/image24.png"/><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10.xml"/><Relationship Id="rId4" Type="http://schemas.openxmlformats.org/officeDocument/2006/relationships/image" Target="../media/image28.png"/><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5.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Picture 2" descr="Screenshot 2024-09-14 002351"/>
          <p:cNvPicPr>
            <a:picLocks noChangeAspect="1"/>
          </p:cNvPicPr>
          <p:nvPr/>
        </p:nvPicPr>
        <p:blipFill>
          <a:blip r:embed="rId1"/>
          <a:stretch>
            <a:fillRect/>
          </a:stretch>
        </p:blipFill>
        <p:spPr>
          <a:xfrm>
            <a:off x="0" y="0"/>
            <a:ext cx="14630400" cy="823023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6916420" y="0"/>
            <a:ext cx="7713980" cy="8229600"/>
          </a:xfrm>
          <a:prstGeom prst="rect">
            <a:avLst/>
          </a:prstGeom>
        </p:spPr>
      </p:pic>
      <p:pic>
        <p:nvPicPr>
          <p:cNvPr id="3" name="Image 1" descr="preencoded.png"/>
          <p:cNvPicPr>
            <a:picLocks noChangeAspect="1"/>
          </p:cNvPicPr>
          <p:nvPr/>
        </p:nvPicPr>
        <p:blipFill>
          <a:blip r:embed="rId2"/>
          <a:stretch>
            <a:fillRect/>
          </a:stretch>
        </p:blipFill>
        <p:spPr>
          <a:xfrm>
            <a:off x="8699500" y="4798139"/>
            <a:ext cx="4975860" cy="2798921"/>
          </a:xfrm>
          <a:prstGeom prst="rect">
            <a:avLst/>
          </a:prstGeom>
        </p:spPr>
      </p:pic>
      <p:sp>
        <p:nvSpPr>
          <p:cNvPr id="4" name="Text 0"/>
          <p:cNvSpPr/>
          <p:nvPr/>
        </p:nvSpPr>
        <p:spPr>
          <a:xfrm>
            <a:off x="216535" y="654050"/>
            <a:ext cx="14263370" cy="4144010"/>
          </a:xfrm>
          <a:prstGeom prst="rect">
            <a:avLst/>
          </a:prstGeom>
          <a:noFill/>
        </p:spPr>
        <p:txBody>
          <a:bodyPr wrap="square" lIns="0" tIns="0" rIns="0" bIns="0" rtlCol="0" anchor="t"/>
          <a:lstStyle/>
          <a:p>
            <a:pPr marL="0" indent="0" algn="l">
              <a:lnSpc>
                <a:spcPts val="6500"/>
              </a:lnSpc>
              <a:buNone/>
            </a:pPr>
            <a:r>
              <a:rPr lang="en-US" sz="7200" b="1" dirty="0">
                <a:solidFill>
                  <a:srgbClr val="FFFFFF"/>
                </a:solidFill>
                <a:latin typeface="Times New Roman" panose="02020603050405020304" charset="0"/>
                <a:ea typeface="Unbounded" pitchFamily="34" charset="-122"/>
                <a:cs typeface="Times New Roman" panose="02020603050405020304" charset="0"/>
              </a:rPr>
              <a:t>Power BI ZomatoData  Analysis: </a:t>
            </a:r>
            <a:endParaRPr lang="en-US" sz="6600" b="1" dirty="0">
              <a:solidFill>
                <a:srgbClr val="FFFFFF"/>
              </a:solidFill>
              <a:latin typeface="Times New Roman" panose="02020603050405020304" charset="0"/>
              <a:ea typeface="Unbounded" pitchFamily="34" charset="-122"/>
              <a:cs typeface="Times New Roman" panose="02020603050405020304" charset="0"/>
            </a:endParaRPr>
          </a:p>
          <a:p>
            <a:pPr marL="0" indent="0" algn="l">
              <a:lnSpc>
                <a:spcPts val="6500"/>
              </a:lnSpc>
              <a:buNone/>
            </a:pPr>
            <a:r>
              <a:rPr lang="en-US" sz="4800" b="1" dirty="0">
                <a:solidFill>
                  <a:srgbClr val="FFFFFF"/>
                </a:solidFill>
                <a:latin typeface="Times New Roman" panose="02020603050405020304" charset="0"/>
                <a:ea typeface="Unbounded" pitchFamily="34" charset="-122"/>
                <a:cs typeface="Times New Roman" panose="02020603050405020304" charset="0"/>
              </a:rPr>
              <a:t>Unlocking Consumer Insights and Market Trends</a:t>
            </a:r>
            <a:endParaRPr lang="en-US" sz="4800" b="1" dirty="0">
              <a:solidFill>
                <a:srgbClr val="FFFFFF"/>
              </a:solidFill>
              <a:latin typeface="Times New Roman" panose="02020603050405020304" charset="0"/>
              <a:ea typeface="Unbounded" pitchFamily="34" charset="-122"/>
              <a:cs typeface="Times New Roman" panose="02020603050405020304" charset="0"/>
            </a:endParaRPr>
          </a:p>
        </p:txBody>
      </p:sp>
      <p:sp>
        <p:nvSpPr>
          <p:cNvPr id="5" name="Text 1"/>
          <p:cNvSpPr/>
          <p:nvPr/>
        </p:nvSpPr>
        <p:spPr>
          <a:xfrm>
            <a:off x="1769745" y="3015615"/>
            <a:ext cx="9980295" cy="2155190"/>
          </a:xfrm>
          <a:prstGeom prst="rect">
            <a:avLst/>
          </a:prstGeom>
          <a:noFill/>
        </p:spPr>
        <p:txBody>
          <a:bodyPr wrap="square" lIns="0" tIns="0" rIns="0" bIns="0" rtlCol="0" anchor="t"/>
          <a:lstStyle/>
          <a:p>
            <a:pPr marL="0" indent="0" algn="just">
              <a:lnSpc>
                <a:spcPts val="2550"/>
              </a:lnSpc>
              <a:buNone/>
            </a:pPr>
            <a:r>
              <a:rPr lang="en-US" sz="2400" dirty="0">
                <a:solidFill>
                  <a:srgbClr val="CAD6DE"/>
                </a:solidFill>
                <a:latin typeface="Times New Roman" panose="02020603050405020304" charset="0"/>
                <a:ea typeface="Cabin" pitchFamily="34" charset="-122"/>
                <a:cs typeface="Times New Roman" panose="02020603050405020304" charset="0"/>
              </a:rPr>
              <a:t>This presentation explores the process of analyzing a Zomato dataset using Power BI to uncover valuable insights about consumer behavior and food service trends. By understanding customer preferences, restaurant performance, and market opportunities, businesses can make informed decisions and gain a competitive edge in the dynamic food industry.</a:t>
            </a:r>
            <a:endParaRPr lang="en-US" sz="2400" dirty="0">
              <a:solidFill>
                <a:srgbClr val="CAD6DE"/>
              </a:solidFill>
              <a:latin typeface="Times New Roman" panose="02020603050405020304" charset="0"/>
              <a:ea typeface="Cabin" pitchFamily="34" charset="-122"/>
              <a:cs typeface="Times New Roman" panose="02020603050405020304" charset="0"/>
            </a:endParaRPr>
          </a:p>
        </p:txBody>
      </p:sp>
      <p:pic>
        <p:nvPicPr>
          <p:cNvPr id="9" name="Picture 8" descr="th__3_-removebg-preview"/>
          <p:cNvPicPr>
            <a:picLocks noChangeAspect="1"/>
          </p:cNvPicPr>
          <p:nvPr/>
        </p:nvPicPr>
        <p:blipFill>
          <a:blip r:embed="rId3"/>
          <a:stretch>
            <a:fillRect/>
          </a:stretch>
        </p:blipFill>
        <p:spPr>
          <a:xfrm>
            <a:off x="12860020" y="7597140"/>
            <a:ext cx="2014220" cy="67183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101600" y="0"/>
            <a:ext cx="14630400" cy="3900805"/>
          </a:xfrm>
          <a:prstGeom prst="rect">
            <a:avLst/>
          </a:prstGeom>
        </p:spPr>
      </p:pic>
      <p:pic>
        <p:nvPicPr>
          <p:cNvPr id="3" name="Image 1" descr="preencoded.png"/>
          <p:cNvPicPr>
            <a:picLocks noChangeAspect="1"/>
          </p:cNvPicPr>
          <p:nvPr/>
        </p:nvPicPr>
        <p:blipFill>
          <a:blip r:embed="rId2"/>
          <a:stretch>
            <a:fillRect/>
          </a:stretch>
        </p:blipFill>
        <p:spPr>
          <a:xfrm>
            <a:off x="6138585" y="430768"/>
            <a:ext cx="2149912" cy="2242542"/>
          </a:xfrm>
          <a:prstGeom prst="rect">
            <a:avLst/>
          </a:prstGeom>
        </p:spPr>
      </p:pic>
      <p:sp>
        <p:nvSpPr>
          <p:cNvPr id="4" name="Text 0"/>
          <p:cNvSpPr/>
          <p:nvPr/>
        </p:nvSpPr>
        <p:spPr>
          <a:xfrm>
            <a:off x="963930" y="3573145"/>
            <a:ext cx="5276215" cy="837565"/>
          </a:xfrm>
          <a:prstGeom prst="rect">
            <a:avLst/>
          </a:prstGeom>
          <a:noFill/>
        </p:spPr>
        <p:txBody>
          <a:bodyPr wrap="none" lIns="0" tIns="0" rIns="0" bIns="0" rtlCol="0" anchor="t"/>
          <a:lstStyle/>
          <a:p>
            <a:pPr marL="0" indent="0">
              <a:lnSpc>
                <a:spcPts val="5150"/>
              </a:lnSpc>
              <a:buNone/>
            </a:pPr>
            <a:r>
              <a:rPr lang="en-US" sz="8800" b="1" dirty="0">
                <a:solidFill>
                  <a:srgbClr val="FFFFFF"/>
                </a:solidFill>
                <a:latin typeface="Times New Roman" panose="02020603050405020304" charset="0"/>
                <a:ea typeface="Unbounded" pitchFamily="34" charset="-122"/>
                <a:cs typeface="Times New Roman" panose="02020603050405020304" charset="0"/>
              </a:rPr>
              <a:t>Introduction</a:t>
            </a:r>
            <a:endParaRPr lang="en-US" sz="8800" b="1" dirty="0">
              <a:solidFill>
                <a:srgbClr val="FFFFFF"/>
              </a:solidFill>
              <a:latin typeface="Times New Roman" panose="02020603050405020304" charset="0"/>
              <a:ea typeface="Unbounded" pitchFamily="34" charset="-122"/>
              <a:cs typeface="Times New Roman" panose="02020603050405020304" charset="0"/>
            </a:endParaRPr>
          </a:p>
        </p:txBody>
      </p:sp>
      <p:sp>
        <p:nvSpPr>
          <p:cNvPr id="5" name="Shape 1"/>
          <p:cNvSpPr/>
          <p:nvPr/>
        </p:nvSpPr>
        <p:spPr>
          <a:xfrm>
            <a:off x="968693" y="4846201"/>
            <a:ext cx="504468" cy="504468"/>
          </a:xfrm>
          <a:prstGeom prst="roundRect">
            <a:avLst>
              <a:gd name="adj" fmla="val 6668"/>
            </a:avLst>
          </a:prstGeom>
          <a:solidFill>
            <a:srgbClr val="304755"/>
          </a:solidFill>
        </p:spPr>
      </p:sp>
      <p:sp>
        <p:nvSpPr>
          <p:cNvPr id="6" name="Text 2"/>
          <p:cNvSpPr/>
          <p:nvPr/>
        </p:nvSpPr>
        <p:spPr>
          <a:xfrm>
            <a:off x="1146334" y="4940141"/>
            <a:ext cx="149066" cy="316587"/>
          </a:xfrm>
          <a:prstGeom prst="rect">
            <a:avLst/>
          </a:prstGeom>
          <a:noFill/>
        </p:spPr>
        <p:txBody>
          <a:bodyPr wrap="none" lIns="0" tIns="0" rIns="0" bIns="0" rtlCol="0" anchor="t"/>
          <a:lstStyle/>
          <a:p>
            <a:pPr marL="0" indent="0" algn="ctr">
              <a:lnSpc>
                <a:spcPts val="2450"/>
              </a:lnSpc>
              <a:buNone/>
            </a:pPr>
            <a:r>
              <a:rPr lang="en-US" sz="2450" dirty="0">
                <a:solidFill>
                  <a:srgbClr val="CAD6DE"/>
                </a:solidFill>
                <a:latin typeface="Unbounded" pitchFamily="34" charset="0"/>
                <a:ea typeface="Unbounded" pitchFamily="34" charset="-122"/>
                <a:cs typeface="Unbounded" pitchFamily="34" charset="-120"/>
              </a:rPr>
              <a:t>1</a:t>
            </a:r>
            <a:endParaRPr lang="en-US" sz="2450" dirty="0"/>
          </a:p>
        </p:txBody>
      </p:sp>
      <p:sp>
        <p:nvSpPr>
          <p:cNvPr id="7" name="Text 3"/>
          <p:cNvSpPr/>
          <p:nvPr/>
        </p:nvSpPr>
        <p:spPr>
          <a:xfrm>
            <a:off x="1697355" y="4846201"/>
            <a:ext cx="3352800" cy="659606"/>
          </a:xfrm>
          <a:prstGeom prst="rect">
            <a:avLst/>
          </a:prstGeom>
          <a:noFill/>
        </p:spPr>
        <p:txBody>
          <a:bodyPr wrap="square" lIns="0" tIns="0" rIns="0" bIns="0" rtlCol="0" anchor="t"/>
          <a:lstStyle/>
          <a:p>
            <a:pPr marL="0" indent="0">
              <a:lnSpc>
                <a:spcPts val="2550"/>
              </a:lnSpc>
              <a:buNone/>
            </a:pPr>
            <a:r>
              <a:rPr lang="en-US" sz="2050" dirty="0">
                <a:solidFill>
                  <a:srgbClr val="CAD6DE"/>
                </a:solidFill>
                <a:latin typeface="Unbounded" pitchFamily="34" charset="0"/>
                <a:ea typeface="Unbounded" pitchFamily="34" charset="-122"/>
                <a:cs typeface="Unbounded" pitchFamily="34" charset="-120"/>
              </a:rPr>
              <a:t>Zomato: A Global Platform</a:t>
            </a:r>
            <a:endParaRPr lang="en-US" sz="2050" dirty="0"/>
          </a:p>
        </p:txBody>
      </p:sp>
      <p:sp>
        <p:nvSpPr>
          <p:cNvPr id="8" name="Text 4"/>
          <p:cNvSpPr/>
          <p:nvPr/>
        </p:nvSpPr>
        <p:spPr>
          <a:xfrm>
            <a:off x="1697355" y="5640348"/>
            <a:ext cx="3352800" cy="1794272"/>
          </a:xfrm>
          <a:prstGeom prst="rect">
            <a:avLst/>
          </a:prstGeom>
          <a:noFill/>
        </p:spPr>
        <p:txBody>
          <a:bodyPr wrap="square" lIns="0" tIns="0" rIns="0" bIns="0" rtlCol="0" anchor="t"/>
          <a:lstStyle/>
          <a:p>
            <a:pPr marL="0" indent="0">
              <a:lnSpc>
                <a:spcPts val="2800"/>
              </a:lnSpc>
              <a:buNone/>
            </a:pPr>
            <a:r>
              <a:rPr lang="en-US" sz="1750" dirty="0">
                <a:solidFill>
                  <a:srgbClr val="CAD6DE"/>
                </a:solidFill>
                <a:latin typeface="Cabin" pitchFamily="34" charset="0"/>
                <a:ea typeface="Cabin" pitchFamily="34" charset="-122"/>
                <a:cs typeface="Cabin" pitchFamily="34" charset="-120"/>
              </a:rPr>
              <a:t>Zomato is a leading global food delivery and restaurant discovery platform, connecting millions of users with a vast network of eateries.</a:t>
            </a:r>
            <a:endParaRPr lang="en-US" sz="1750" dirty="0"/>
          </a:p>
        </p:txBody>
      </p:sp>
      <p:sp>
        <p:nvSpPr>
          <p:cNvPr id="9" name="Shape 5"/>
          <p:cNvSpPr/>
          <p:nvPr/>
        </p:nvSpPr>
        <p:spPr>
          <a:xfrm>
            <a:off x="5274350" y="4846201"/>
            <a:ext cx="504468" cy="504468"/>
          </a:xfrm>
          <a:prstGeom prst="roundRect">
            <a:avLst>
              <a:gd name="adj" fmla="val 6668"/>
            </a:avLst>
          </a:prstGeom>
          <a:solidFill>
            <a:srgbClr val="304755"/>
          </a:solidFill>
        </p:spPr>
      </p:sp>
      <p:sp>
        <p:nvSpPr>
          <p:cNvPr id="10" name="Text 6"/>
          <p:cNvSpPr/>
          <p:nvPr/>
        </p:nvSpPr>
        <p:spPr>
          <a:xfrm>
            <a:off x="5401628" y="4940141"/>
            <a:ext cx="249793" cy="316587"/>
          </a:xfrm>
          <a:prstGeom prst="rect">
            <a:avLst/>
          </a:prstGeom>
          <a:noFill/>
        </p:spPr>
        <p:txBody>
          <a:bodyPr wrap="none" lIns="0" tIns="0" rIns="0" bIns="0" rtlCol="0" anchor="t"/>
          <a:lstStyle/>
          <a:p>
            <a:pPr marL="0" indent="0" algn="ctr">
              <a:lnSpc>
                <a:spcPts val="2450"/>
              </a:lnSpc>
              <a:buNone/>
            </a:pPr>
            <a:r>
              <a:rPr lang="en-US" sz="2450" dirty="0">
                <a:solidFill>
                  <a:srgbClr val="CAD6DE"/>
                </a:solidFill>
                <a:latin typeface="Unbounded" pitchFamily="34" charset="0"/>
                <a:ea typeface="Unbounded" pitchFamily="34" charset="-122"/>
                <a:cs typeface="Unbounded" pitchFamily="34" charset="-120"/>
              </a:rPr>
              <a:t>2</a:t>
            </a:r>
            <a:endParaRPr lang="en-US" sz="2450" dirty="0"/>
          </a:p>
        </p:txBody>
      </p:sp>
      <p:sp>
        <p:nvSpPr>
          <p:cNvPr id="11" name="Text 7"/>
          <p:cNvSpPr/>
          <p:nvPr/>
        </p:nvSpPr>
        <p:spPr>
          <a:xfrm>
            <a:off x="6003012" y="4846201"/>
            <a:ext cx="3212187" cy="329803"/>
          </a:xfrm>
          <a:prstGeom prst="rect">
            <a:avLst/>
          </a:prstGeom>
          <a:noFill/>
        </p:spPr>
        <p:txBody>
          <a:bodyPr wrap="none" lIns="0" tIns="0" rIns="0" bIns="0" rtlCol="0" anchor="t"/>
          <a:lstStyle/>
          <a:p>
            <a:pPr marL="0" indent="0">
              <a:lnSpc>
                <a:spcPts val="2550"/>
              </a:lnSpc>
              <a:buNone/>
            </a:pPr>
            <a:r>
              <a:rPr lang="en-US" sz="2050" dirty="0">
                <a:solidFill>
                  <a:srgbClr val="CAD6DE"/>
                </a:solidFill>
                <a:latin typeface="Unbounded" pitchFamily="34" charset="0"/>
                <a:ea typeface="Unbounded" pitchFamily="34" charset="-122"/>
                <a:cs typeface="Unbounded" pitchFamily="34" charset="-120"/>
              </a:rPr>
              <a:t>Data-Driven Insights</a:t>
            </a:r>
            <a:endParaRPr lang="en-US" sz="2050" dirty="0"/>
          </a:p>
        </p:txBody>
      </p:sp>
      <p:sp>
        <p:nvSpPr>
          <p:cNvPr id="12" name="Text 8"/>
          <p:cNvSpPr/>
          <p:nvPr/>
        </p:nvSpPr>
        <p:spPr>
          <a:xfrm>
            <a:off x="6003012" y="5310545"/>
            <a:ext cx="3352800" cy="1794272"/>
          </a:xfrm>
          <a:prstGeom prst="rect">
            <a:avLst/>
          </a:prstGeom>
          <a:noFill/>
        </p:spPr>
        <p:txBody>
          <a:bodyPr wrap="square" lIns="0" tIns="0" rIns="0" bIns="0" rtlCol="0" anchor="t"/>
          <a:lstStyle/>
          <a:p>
            <a:pPr marL="0" indent="0">
              <a:lnSpc>
                <a:spcPts val="2800"/>
              </a:lnSpc>
              <a:buNone/>
            </a:pPr>
            <a:r>
              <a:rPr lang="en-US" sz="1750" dirty="0">
                <a:solidFill>
                  <a:srgbClr val="CAD6DE"/>
                </a:solidFill>
                <a:latin typeface="Cabin" pitchFamily="34" charset="0"/>
                <a:ea typeface="Cabin" pitchFamily="34" charset="-122"/>
                <a:cs typeface="Cabin" pitchFamily="34" charset="-120"/>
              </a:rPr>
              <a:t>This project aims to leverage Zomato's rich dataset to understand customer preferences, restaurant performance, and market trends.</a:t>
            </a:r>
            <a:endParaRPr lang="en-US" sz="1750" dirty="0"/>
          </a:p>
        </p:txBody>
      </p:sp>
      <p:sp>
        <p:nvSpPr>
          <p:cNvPr id="13" name="Shape 9"/>
          <p:cNvSpPr/>
          <p:nvPr/>
        </p:nvSpPr>
        <p:spPr>
          <a:xfrm>
            <a:off x="9580007" y="4846201"/>
            <a:ext cx="504468" cy="504468"/>
          </a:xfrm>
          <a:prstGeom prst="roundRect">
            <a:avLst>
              <a:gd name="adj" fmla="val 6668"/>
            </a:avLst>
          </a:prstGeom>
          <a:solidFill>
            <a:srgbClr val="304755"/>
          </a:solidFill>
        </p:spPr>
      </p:sp>
      <p:sp>
        <p:nvSpPr>
          <p:cNvPr id="14" name="Text 10"/>
          <p:cNvSpPr/>
          <p:nvPr/>
        </p:nvSpPr>
        <p:spPr>
          <a:xfrm>
            <a:off x="9704903" y="4940141"/>
            <a:ext cx="254556" cy="316587"/>
          </a:xfrm>
          <a:prstGeom prst="rect">
            <a:avLst/>
          </a:prstGeom>
          <a:noFill/>
        </p:spPr>
        <p:txBody>
          <a:bodyPr wrap="none" lIns="0" tIns="0" rIns="0" bIns="0" rtlCol="0" anchor="t"/>
          <a:lstStyle/>
          <a:p>
            <a:pPr marL="0" indent="0" algn="ctr">
              <a:lnSpc>
                <a:spcPts val="2450"/>
              </a:lnSpc>
              <a:buNone/>
            </a:pPr>
            <a:r>
              <a:rPr lang="en-US" sz="2450" dirty="0">
                <a:solidFill>
                  <a:srgbClr val="CAD6DE"/>
                </a:solidFill>
                <a:latin typeface="Unbounded" pitchFamily="34" charset="0"/>
                <a:ea typeface="Unbounded" pitchFamily="34" charset="-122"/>
                <a:cs typeface="Unbounded" pitchFamily="34" charset="-120"/>
              </a:rPr>
              <a:t>3</a:t>
            </a:r>
            <a:endParaRPr lang="en-US" sz="2450" dirty="0"/>
          </a:p>
        </p:txBody>
      </p:sp>
      <p:sp>
        <p:nvSpPr>
          <p:cNvPr id="15" name="Text 11"/>
          <p:cNvSpPr/>
          <p:nvPr/>
        </p:nvSpPr>
        <p:spPr>
          <a:xfrm>
            <a:off x="10308669" y="4846201"/>
            <a:ext cx="3027045" cy="329803"/>
          </a:xfrm>
          <a:prstGeom prst="rect">
            <a:avLst/>
          </a:prstGeom>
          <a:noFill/>
        </p:spPr>
        <p:txBody>
          <a:bodyPr wrap="none" lIns="0" tIns="0" rIns="0" bIns="0" rtlCol="0" anchor="t"/>
          <a:lstStyle/>
          <a:p>
            <a:pPr marL="0" indent="0">
              <a:lnSpc>
                <a:spcPts val="2550"/>
              </a:lnSpc>
              <a:buNone/>
            </a:pPr>
            <a:r>
              <a:rPr lang="en-US" sz="2050" dirty="0">
                <a:solidFill>
                  <a:srgbClr val="CAD6DE"/>
                </a:solidFill>
                <a:latin typeface="Unbounded" pitchFamily="34" charset="0"/>
                <a:ea typeface="Unbounded" pitchFamily="34" charset="-122"/>
                <a:cs typeface="Unbounded" pitchFamily="34" charset="-120"/>
              </a:rPr>
              <a:t>Actionable Insights</a:t>
            </a:r>
            <a:endParaRPr lang="en-US" sz="2050" dirty="0"/>
          </a:p>
        </p:txBody>
      </p:sp>
      <p:sp>
        <p:nvSpPr>
          <p:cNvPr id="16" name="Text 12"/>
          <p:cNvSpPr/>
          <p:nvPr/>
        </p:nvSpPr>
        <p:spPr>
          <a:xfrm>
            <a:off x="10308669" y="5310545"/>
            <a:ext cx="3352800" cy="1435418"/>
          </a:xfrm>
          <a:prstGeom prst="rect">
            <a:avLst/>
          </a:prstGeom>
          <a:noFill/>
        </p:spPr>
        <p:txBody>
          <a:bodyPr wrap="square" lIns="0" tIns="0" rIns="0" bIns="0" rtlCol="0" anchor="t"/>
          <a:lstStyle/>
          <a:p>
            <a:pPr marL="0" indent="0">
              <a:lnSpc>
                <a:spcPts val="2800"/>
              </a:lnSpc>
              <a:buNone/>
            </a:pPr>
            <a:r>
              <a:rPr lang="en-US" sz="1750" dirty="0">
                <a:solidFill>
                  <a:srgbClr val="CAD6DE"/>
                </a:solidFill>
                <a:latin typeface="Cabin" pitchFamily="34" charset="0"/>
                <a:ea typeface="Cabin" pitchFamily="34" charset="-122"/>
                <a:cs typeface="Cabin" pitchFamily="34" charset="-120"/>
              </a:rPr>
              <a:t>The analysis will provide actionable insights that can guide business strategies, improve customer experiences, and drive growth.</a:t>
            </a:r>
            <a:endParaRPr lang="en-US" sz="1750" dirty="0"/>
          </a:p>
        </p:txBody>
      </p:sp>
      <p:pic>
        <p:nvPicPr>
          <p:cNvPr id="20" name="Picture 19" descr="th__3_-removebg-preview"/>
          <p:cNvPicPr>
            <a:picLocks noChangeAspect="1"/>
          </p:cNvPicPr>
          <p:nvPr/>
        </p:nvPicPr>
        <p:blipFill>
          <a:blip r:embed="rId3"/>
          <a:stretch>
            <a:fillRect/>
          </a:stretch>
        </p:blipFill>
        <p:spPr>
          <a:xfrm>
            <a:off x="12860020" y="7597140"/>
            <a:ext cx="2014220" cy="67183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4630400" cy="3301365"/>
          </a:xfrm>
          <a:prstGeom prst="rect">
            <a:avLst/>
          </a:prstGeom>
        </p:spPr>
      </p:pic>
      <p:sp>
        <p:nvSpPr>
          <p:cNvPr id="4" name="Text 0"/>
          <p:cNvSpPr/>
          <p:nvPr/>
        </p:nvSpPr>
        <p:spPr>
          <a:xfrm>
            <a:off x="446723" y="3538418"/>
            <a:ext cx="6093619" cy="704493"/>
          </a:xfrm>
          <a:prstGeom prst="rect">
            <a:avLst/>
          </a:prstGeom>
          <a:noFill/>
        </p:spPr>
        <p:txBody>
          <a:bodyPr wrap="none" lIns="0" tIns="0" rIns="0" bIns="0" rtlCol="0" anchor="t"/>
          <a:lstStyle/>
          <a:p>
            <a:pPr marL="0" indent="0">
              <a:lnSpc>
                <a:spcPts val="5500"/>
              </a:lnSpc>
              <a:buNone/>
            </a:pPr>
            <a:r>
              <a:rPr lang="en-US" sz="8000" b="1" dirty="0">
                <a:solidFill>
                  <a:srgbClr val="FFFFFF"/>
                </a:solidFill>
                <a:latin typeface="Times New Roman" panose="02020603050405020304" charset="0"/>
                <a:ea typeface="Unbounded" pitchFamily="34" charset="-122"/>
                <a:cs typeface="Times New Roman" panose="02020603050405020304" charset="0"/>
              </a:rPr>
              <a:t>Dataset Overview</a:t>
            </a:r>
            <a:endParaRPr lang="en-US" sz="8000" b="1" dirty="0">
              <a:solidFill>
                <a:srgbClr val="FFFFFF"/>
              </a:solidFill>
              <a:latin typeface="Times New Roman" panose="02020603050405020304" charset="0"/>
              <a:ea typeface="Unbounded" pitchFamily="34" charset="-122"/>
              <a:cs typeface="Times New Roman" panose="02020603050405020304" charset="0"/>
            </a:endParaRPr>
          </a:p>
        </p:txBody>
      </p:sp>
      <p:sp>
        <p:nvSpPr>
          <p:cNvPr id="5" name="Shape 1"/>
          <p:cNvSpPr/>
          <p:nvPr/>
        </p:nvSpPr>
        <p:spPr>
          <a:xfrm>
            <a:off x="968693" y="4724162"/>
            <a:ext cx="12692896" cy="2839522"/>
          </a:xfrm>
          <a:prstGeom prst="roundRect">
            <a:avLst>
              <a:gd name="adj" fmla="val 1266"/>
            </a:avLst>
          </a:prstGeom>
          <a:noFill/>
          <a:ln w="7620">
            <a:solidFill>
              <a:srgbClr val="FFFFFF">
                <a:alpha val="24000"/>
              </a:srgbClr>
            </a:solidFill>
            <a:prstDash val="solid"/>
          </a:ln>
        </p:spPr>
      </p:sp>
      <p:sp>
        <p:nvSpPr>
          <p:cNvPr id="6" name="Shape 2"/>
          <p:cNvSpPr/>
          <p:nvPr/>
        </p:nvSpPr>
        <p:spPr>
          <a:xfrm>
            <a:off x="976312" y="4731782"/>
            <a:ext cx="12676346" cy="685919"/>
          </a:xfrm>
          <a:prstGeom prst="rect">
            <a:avLst/>
          </a:prstGeom>
          <a:solidFill>
            <a:srgbClr val="FFFFFF">
              <a:alpha val="4000"/>
            </a:srgbClr>
          </a:solidFill>
        </p:spPr>
      </p:sp>
      <p:sp>
        <p:nvSpPr>
          <p:cNvPr id="7" name="Text 3"/>
          <p:cNvSpPr/>
          <p:nvPr/>
        </p:nvSpPr>
        <p:spPr>
          <a:xfrm>
            <a:off x="1217414" y="4883110"/>
            <a:ext cx="3742015" cy="383262"/>
          </a:xfrm>
          <a:prstGeom prst="rect">
            <a:avLst/>
          </a:prstGeom>
          <a:noFill/>
        </p:spPr>
        <p:txBody>
          <a:bodyPr wrap="none" lIns="0" tIns="0" rIns="0" bIns="0" rtlCol="0" anchor="t"/>
          <a:lstStyle/>
          <a:p>
            <a:pPr marL="0" indent="0">
              <a:lnSpc>
                <a:spcPts val="3000"/>
              </a:lnSpc>
              <a:buNone/>
            </a:pPr>
            <a:r>
              <a:rPr lang="en-US" sz="1850" dirty="0">
                <a:solidFill>
                  <a:srgbClr val="CAD6DE"/>
                </a:solidFill>
                <a:latin typeface="Cabin" pitchFamily="34" charset="0"/>
                <a:ea typeface="Cabin" pitchFamily="34" charset="-122"/>
                <a:cs typeface="Cabin" pitchFamily="34" charset="-120"/>
              </a:rPr>
              <a:t>Table Name</a:t>
            </a:r>
            <a:endParaRPr lang="en-US" sz="1850" dirty="0"/>
          </a:p>
        </p:txBody>
      </p:sp>
      <p:sp>
        <p:nvSpPr>
          <p:cNvPr id="8" name="Text 4"/>
          <p:cNvSpPr/>
          <p:nvPr/>
        </p:nvSpPr>
        <p:spPr>
          <a:xfrm>
            <a:off x="5446157" y="4883110"/>
            <a:ext cx="3738205" cy="383262"/>
          </a:xfrm>
          <a:prstGeom prst="rect">
            <a:avLst/>
          </a:prstGeom>
          <a:noFill/>
        </p:spPr>
        <p:txBody>
          <a:bodyPr wrap="none" lIns="0" tIns="0" rIns="0" bIns="0" rtlCol="0" anchor="t"/>
          <a:lstStyle/>
          <a:p>
            <a:pPr marL="0" indent="0">
              <a:lnSpc>
                <a:spcPts val="3000"/>
              </a:lnSpc>
              <a:buNone/>
            </a:pPr>
            <a:r>
              <a:rPr lang="en-US" sz="1850" dirty="0">
                <a:solidFill>
                  <a:srgbClr val="CAD6DE"/>
                </a:solidFill>
                <a:latin typeface="Cabin" pitchFamily="34" charset="0"/>
                <a:ea typeface="Cabin" pitchFamily="34" charset="-122"/>
                <a:cs typeface="Cabin" pitchFamily="34" charset="-120"/>
              </a:rPr>
              <a:t>Columns</a:t>
            </a:r>
            <a:endParaRPr lang="en-US" sz="1850" dirty="0"/>
          </a:p>
        </p:txBody>
      </p:sp>
      <p:sp>
        <p:nvSpPr>
          <p:cNvPr id="9" name="Text 5"/>
          <p:cNvSpPr/>
          <p:nvPr/>
        </p:nvSpPr>
        <p:spPr>
          <a:xfrm>
            <a:off x="9671090" y="4883110"/>
            <a:ext cx="3742015" cy="383262"/>
          </a:xfrm>
          <a:prstGeom prst="rect">
            <a:avLst/>
          </a:prstGeom>
          <a:noFill/>
        </p:spPr>
        <p:txBody>
          <a:bodyPr wrap="none" lIns="0" tIns="0" rIns="0" bIns="0" rtlCol="0" anchor="t"/>
          <a:lstStyle/>
          <a:p>
            <a:pPr marL="0" indent="0">
              <a:lnSpc>
                <a:spcPts val="3000"/>
              </a:lnSpc>
              <a:buNone/>
            </a:pPr>
            <a:r>
              <a:rPr lang="en-US" sz="1850" dirty="0">
                <a:solidFill>
                  <a:srgbClr val="CAD6DE"/>
                </a:solidFill>
                <a:latin typeface="Cabin" pitchFamily="34" charset="0"/>
                <a:ea typeface="Cabin" pitchFamily="34" charset="-122"/>
                <a:cs typeface="Cabin" pitchFamily="34" charset="-120"/>
              </a:rPr>
              <a:t>Description</a:t>
            </a:r>
            <a:endParaRPr lang="en-US" sz="1850" dirty="0"/>
          </a:p>
        </p:txBody>
      </p:sp>
      <p:sp>
        <p:nvSpPr>
          <p:cNvPr id="10" name="Shape 6"/>
          <p:cNvSpPr/>
          <p:nvPr/>
        </p:nvSpPr>
        <p:spPr>
          <a:xfrm>
            <a:off x="976312" y="5417701"/>
            <a:ext cx="12676346" cy="1452443"/>
          </a:xfrm>
          <a:prstGeom prst="rect">
            <a:avLst/>
          </a:prstGeom>
          <a:solidFill>
            <a:srgbClr val="000000">
              <a:alpha val="4000"/>
            </a:srgbClr>
          </a:solidFill>
        </p:spPr>
      </p:sp>
      <p:sp>
        <p:nvSpPr>
          <p:cNvPr id="11" name="Text 7"/>
          <p:cNvSpPr/>
          <p:nvPr/>
        </p:nvSpPr>
        <p:spPr>
          <a:xfrm>
            <a:off x="1217414" y="5569029"/>
            <a:ext cx="3742015" cy="383262"/>
          </a:xfrm>
          <a:prstGeom prst="rect">
            <a:avLst/>
          </a:prstGeom>
          <a:noFill/>
        </p:spPr>
        <p:txBody>
          <a:bodyPr wrap="none" lIns="0" tIns="0" rIns="0" bIns="0" rtlCol="0" anchor="t"/>
          <a:lstStyle/>
          <a:p>
            <a:pPr marL="0" indent="0">
              <a:lnSpc>
                <a:spcPts val="3000"/>
              </a:lnSpc>
              <a:buNone/>
            </a:pPr>
            <a:r>
              <a:rPr lang="en-US" sz="1850" dirty="0">
                <a:solidFill>
                  <a:srgbClr val="CAD6DE"/>
                </a:solidFill>
                <a:latin typeface="Cabin" pitchFamily="34" charset="0"/>
                <a:ea typeface="Cabin" pitchFamily="34" charset="-122"/>
                <a:cs typeface="Cabin" pitchFamily="34" charset="-120"/>
              </a:rPr>
              <a:t>Zomato</a:t>
            </a:r>
            <a:endParaRPr lang="en-US" sz="1850" dirty="0"/>
          </a:p>
        </p:txBody>
      </p:sp>
      <p:sp>
        <p:nvSpPr>
          <p:cNvPr id="12" name="Text 8"/>
          <p:cNvSpPr/>
          <p:nvPr/>
        </p:nvSpPr>
        <p:spPr>
          <a:xfrm>
            <a:off x="5446157" y="5569029"/>
            <a:ext cx="3738205" cy="383262"/>
          </a:xfrm>
          <a:prstGeom prst="rect">
            <a:avLst/>
          </a:prstGeom>
          <a:noFill/>
        </p:spPr>
        <p:txBody>
          <a:bodyPr wrap="none" lIns="0" tIns="0" rIns="0" bIns="0" rtlCol="0" anchor="t"/>
          <a:lstStyle/>
          <a:p>
            <a:pPr marL="0" indent="0">
              <a:lnSpc>
                <a:spcPts val="3000"/>
              </a:lnSpc>
              <a:buNone/>
            </a:pPr>
            <a:r>
              <a:rPr lang="en-US" sz="1850" dirty="0">
                <a:solidFill>
                  <a:srgbClr val="CAD6DE"/>
                </a:solidFill>
                <a:latin typeface="Cabin" pitchFamily="34" charset="0"/>
                <a:ea typeface="Cabin" pitchFamily="34" charset="-122"/>
                <a:cs typeface="Cabin" pitchFamily="34" charset="-120"/>
              </a:rPr>
              <a:t>21</a:t>
            </a:r>
            <a:endParaRPr lang="en-US" sz="1850" dirty="0"/>
          </a:p>
        </p:txBody>
      </p:sp>
      <p:sp>
        <p:nvSpPr>
          <p:cNvPr id="13" name="Text 9"/>
          <p:cNvSpPr/>
          <p:nvPr/>
        </p:nvSpPr>
        <p:spPr>
          <a:xfrm>
            <a:off x="9671090" y="5569029"/>
            <a:ext cx="3742015" cy="1149787"/>
          </a:xfrm>
          <a:prstGeom prst="rect">
            <a:avLst/>
          </a:prstGeom>
          <a:noFill/>
        </p:spPr>
        <p:txBody>
          <a:bodyPr wrap="square" lIns="0" tIns="0" rIns="0" bIns="0" rtlCol="0" anchor="t"/>
          <a:lstStyle/>
          <a:p>
            <a:pPr marL="0" indent="0">
              <a:lnSpc>
                <a:spcPts val="3000"/>
              </a:lnSpc>
              <a:buNone/>
            </a:pPr>
            <a:r>
              <a:rPr lang="en-US" sz="1850" dirty="0">
                <a:solidFill>
                  <a:srgbClr val="CAD6DE"/>
                </a:solidFill>
                <a:latin typeface="Cabin" pitchFamily="34" charset="0"/>
                <a:ea typeface="Cabin" pitchFamily="34" charset="-122"/>
                <a:cs typeface="Cabin" pitchFamily="34" charset="-120"/>
              </a:rPr>
              <a:t>Restaurant ID, Name, Location details, Cuisines, Average Cost, Ratings, etc.</a:t>
            </a:r>
            <a:endParaRPr lang="en-US" sz="1850" dirty="0"/>
          </a:p>
        </p:txBody>
      </p:sp>
      <p:sp>
        <p:nvSpPr>
          <p:cNvPr id="14" name="Shape 10"/>
          <p:cNvSpPr/>
          <p:nvPr/>
        </p:nvSpPr>
        <p:spPr>
          <a:xfrm>
            <a:off x="976312" y="6870144"/>
            <a:ext cx="12676346" cy="685919"/>
          </a:xfrm>
          <a:prstGeom prst="rect">
            <a:avLst/>
          </a:prstGeom>
          <a:solidFill>
            <a:srgbClr val="FFFFFF">
              <a:alpha val="4000"/>
            </a:srgbClr>
          </a:solidFill>
        </p:spPr>
      </p:sp>
      <p:sp>
        <p:nvSpPr>
          <p:cNvPr id="15" name="Text 11"/>
          <p:cNvSpPr/>
          <p:nvPr/>
        </p:nvSpPr>
        <p:spPr>
          <a:xfrm>
            <a:off x="1217414" y="7021473"/>
            <a:ext cx="3742015" cy="383262"/>
          </a:xfrm>
          <a:prstGeom prst="rect">
            <a:avLst/>
          </a:prstGeom>
          <a:noFill/>
        </p:spPr>
        <p:txBody>
          <a:bodyPr wrap="none" lIns="0" tIns="0" rIns="0" bIns="0" rtlCol="0" anchor="t"/>
          <a:lstStyle/>
          <a:p>
            <a:pPr marL="0" indent="0">
              <a:lnSpc>
                <a:spcPts val="3000"/>
              </a:lnSpc>
              <a:buNone/>
            </a:pPr>
            <a:r>
              <a:rPr lang="en-US" sz="1850" dirty="0">
                <a:solidFill>
                  <a:srgbClr val="CAD6DE"/>
                </a:solidFill>
                <a:latin typeface="Cabin" pitchFamily="34" charset="0"/>
                <a:ea typeface="Cabin" pitchFamily="34" charset="-122"/>
                <a:cs typeface="Cabin" pitchFamily="34" charset="-120"/>
              </a:rPr>
              <a:t>Country Code</a:t>
            </a:r>
            <a:endParaRPr lang="en-US" sz="1850" dirty="0"/>
          </a:p>
        </p:txBody>
      </p:sp>
      <p:sp>
        <p:nvSpPr>
          <p:cNvPr id="16" name="Text 12"/>
          <p:cNvSpPr/>
          <p:nvPr/>
        </p:nvSpPr>
        <p:spPr>
          <a:xfrm>
            <a:off x="5446157" y="7021473"/>
            <a:ext cx="3738205" cy="383262"/>
          </a:xfrm>
          <a:prstGeom prst="rect">
            <a:avLst/>
          </a:prstGeom>
          <a:noFill/>
        </p:spPr>
        <p:txBody>
          <a:bodyPr wrap="none" lIns="0" tIns="0" rIns="0" bIns="0" rtlCol="0" anchor="t"/>
          <a:lstStyle/>
          <a:p>
            <a:pPr marL="0" indent="0">
              <a:lnSpc>
                <a:spcPts val="3000"/>
              </a:lnSpc>
              <a:buNone/>
            </a:pPr>
            <a:r>
              <a:rPr lang="en-US" sz="1850" dirty="0">
                <a:solidFill>
                  <a:srgbClr val="CAD6DE"/>
                </a:solidFill>
                <a:latin typeface="Cabin" pitchFamily="34" charset="0"/>
                <a:ea typeface="Cabin" pitchFamily="34" charset="-122"/>
                <a:cs typeface="Cabin" pitchFamily="34" charset="-120"/>
              </a:rPr>
              <a:t>2</a:t>
            </a:r>
            <a:endParaRPr lang="en-US" sz="1850" dirty="0"/>
          </a:p>
        </p:txBody>
      </p:sp>
      <p:sp>
        <p:nvSpPr>
          <p:cNvPr id="17" name="Text 13"/>
          <p:cNvSpPr/>
          <p:nvPr/>
        </p:nvSpPr>
        <p:spPr>
          <a:xfrm>
            <a:off x="9671090" y="7021473"/>
            <a:ext cx="3742015" cy="383262"/>
          </a:xfrm>
          <a:prstGeom prst="rect">
            <a:avLst/>
          </a:prstGeom>
          <a:noFill/>
        </p:spPr>
        <p:txBody>
          <a:bodyPr wrap="none" lIns="0" tIns="0" rIns="0" bIns="0" rtlCol="0" anchor="t"/>
          <a:lstStyle/>
          <a:p>
            <a:pPr marL="0" indent="0">
              <a:lnSpc>
                <a:spcPts val="3000"/>
              </a:lnSpc>
              <a:buNone/>
            </a:pPr>
            <a:r>
              <a:rPr lang="en-US" sz="1850" dirty="0">
                <a:solidFill>
                  <a:srgbClr val="CAD6DE"/>
                </a:solidFill>
                <a:latin typeface="Cabin" pitchFamily="34" charset="0"/>
                <a:ea typeface="Cabin" pitchFamily="34" charset="-122"/>
                <a:cs typeface="Cabin" pitchFamily="34" charset="-120"/>
              </a:rPr>
              <a:t>Country Code and Country Name</a:t>
            </a:r>
            <a:endParaRPr lang="en-US" sz="1850" dirty="0"/>
          </a:p>
        </p:txBody>
      </p:sp>
      <p:pic>
        <p:nvPicPr>
          <p:cNvPr id="19" name="Picture 18" descr="th__3_-removebg-preview"/>
          <p:cNvPicPr>
            <a:picLocks noChangeAspect="1"/>
          </p:cNvPicPr>
          <p:nvPr/>
        </p:nvPicPr>
        <p:blipFill>
          <a:blip r:embed="rId2"/>
          <a:stretch>
            <a:fillRect/>
          </a:stretch>
        </p:blipFill>
        <p:spPr>
          <a:xfrm>
            <a:off x="12860020" y="7597140"/>
            <a:ext cx="2014220" cy="671830"/>
          </a:xfrm>
          <a:prstGeom prst="rect">
            <a:avLst/>
          </a:prstGeom>
        </p:spPr>
      </p:pic>
      <p:pic>
        <p:nvPicPr>
          <p:cNvPr id="18" name="Picture 17" descr="Screenshot 2024-09-13 232933"/>
          <p:cNvPicPr>
            <a:picLocks noChangeAspect="1"/>
          </p:cNvPicPr>
          <p:nvPr/>
        </p:nvPicPr>
        <p:blipFill>
          <a:blip r:embed="rId3"/>
          <a:stretch>
            <a:fillRect/>
          </a:stretch>
        </p:blipFill>
        <p:spPr>
          <a:xfrm>
            <a:off x="1781175" y="129540"/>
            <a:ext cx="10857865" cy="299847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8023225" y="0"/>
            <a:ext cx="6607175" cy="8229600"/>
          </a:xfrm>
          <a:prstGeom prst="rect">
            <a:avLst/>
          </a:prstGeom>
        </p:spPr>
      </p:pic>
      <p:sp>
        <p:nvSpPr>
          <p:cNvPr id="4" name="Text 0"/>
          <p:cNvSpPr/>
          <p:nvPr/>
        </p:nvSpPr>
        <p:spPr>
          <a:xfrm>
            <a:off x="768985" y="687705"/>
            <a:ext cx="10114280" cy="1292860"/>
          </a:xfrm>
          <a:prstGeom prst="rect">
            <a:avLst/>
          </a:prstGeom>
          <a:noFill/>
        </p:spPr>
        <p:txBody>
          <a:bodyPr wrap="square" lIns="0" tIns="0" rIns="0" bIns="0" rtlCol="0" anchor="t"/>
          <a:lstStyle/>
          <a:p>
            <a:pPr marL="0" indent="0">
              <a:lnSpc>
                <a:spcPts val="5050"/>
              </a:lnSpc>
              <a:buNone/>
            </a:pPr>
            <a:r>
              <a:rPr lang="en-US" sz="5400" b="1" dirty="0">
                <a:solidFill>
                  <a:srgbClr val="FFFFFF"/>
                </a:solidFill>
                <a:latin typeface="Times New Roman" panose="02020603050405020304" charset="0"/>
                <a:ea typeface="Unbounded" pitchFamily="34" charset="-122"/>
                <a:cs typeface="Times New Roman" panose="02020603050405020304" charset="0"/>
              </a:rPr>
              <a:t>Data Import and Transformation</a:t>
            </a:r>
            <a:endParaRPr lang="en-US" sz="5400" b="1" dirty="0">
              <a:solidFill>
                <a:srgbClr val="FFFFFF"/>
              </a:solidFill>
              <a:latin typeface="Times New Roman" panose="02020603050405020304" charset="0"/>
              <a:ea typeface="Unbounded" pitchFamily="34" charset="-122"/>
              <a:cs typeface="Times New Roman" panose="02020603050405020304" charset="0"/>
            </a:endParaRPr>
          </a:p>
        </p:txBody>
      </p:sp>
      <p:sp>
        <p:nvSpPr>
          <p:cNvPr id="5" name="Shape 1"/>
          <p:cNvSpPr/>
          <p:nvPr/>
        </p:nvSpPr>
        <p:spPr>
          <a:xfrm>
            <a:off x="1083469" y="2309813"/>
            <a:ext cx="30480" cy="5232083"/>
          </a:xfrm>
          <a:prstGeom prst="roundRect">
            <a:avLst>
              <a:gd name="adj" fmla="val 108157"/>
            </a:avLst>
          </a:prstGeom>
          <a:solidFill>
            <a:srgbClr val="49606E"/>
          </a:solidFill>
        </p:spPr>
      </p:sp>
      <p:sp>
        <p:nvSpPr>
          <p:cNvPr id="6" name="Shape 2"/>
          <p:cNvSpPr/>
          <p:nvPr/>
        </p:nvSpPr>
        <p:spPr>
          <a:xfrm>
            <a:off x="1315462" y="2788920"/>
            <a:ext cx="769144" cy="30480"/>
          </a:xfrm>
          <a:prstGeom prst="roundRect">
            <a:avLst>
              <a:gd name="adj" fmla="val 108157"/>
            </a:avLst>
          </a:prstGeom>
          <a:solidFill>
            <a:srgbClr val="49606E"/>
          </a:solidFill>
        </p:spPr>
      </p:sp>
      <p:sp>
        <p:nvSpPr>
          <p:cNvPr id="7" name="Shape 3"/>
          <p:cNvSpPr/>
          <p:nvPr/>
        </p:nvSpPr>
        <p:spPr>
          <a:xfrm>
            <a:off x="851475" y="2556986"/>
            <a:ext cx="494467" cy="494467"/>
          </a:xfrm>
          <a:prstGeom prst="roundRect">
            <a:avLst>
              <a:gd name="adj" fmla="val 6667"/>
            </a:avLst>
          </a:prstGeom>
          <a:solidFill>
            <a:srgbClr val="304755"/>
          </a:solidFill>
        </p:spPr>
      </p:sp>
      <p:sp>
        <p:nvSpPr>
          <p:cNvPr id="8" name="Text 4"/>
          <p:cNvSpPr/>
          <p:nvPr/>
        </p:nvSpPr>
        <p:spPr>
          <a:xfrm>
            <a:off x="1025664" y="2649022"/>
            <a:ext cx="146090" cy="310277"/>
          </a:xfrm>
          <a:prstGeom prst="rect">
            <a:avLst/>
          </a:prstGeom>
          <a:noFill/>
        </p:spPr>
        <p:txBody>
          <a:bodyPr wrap="none" lIns="0" tIns="0" rIns="0" bIns="0" rtlCol="0" anchor="t"/>
          <a:lstStyle/>
          <a:p>
            <a:pPr marL="0" indent="0" algn="ctr">
              <a:lnSpc>
                <a:spcPts val="2400"/>
              </a:lnSpc>
              <a:buNone/>
            </a:pPr>
            <a:r>
              <a:rPr lang="en-US" sz="2400" dirty="0">
                <a:solidFill>
                  <a:srgbClr val="CAD6DE"/>
                </a:solidFill>
                <a:latin typeface="Unbounded" pitchFamily="34" charset="0"/>
                <a:ea typeface="Unbounded" pitchFamily="34" charset="-122"/>
                <a:cs typeface="Unbounded" pitchFamily="34" charset="-120"/>
              </a:rPr>
              <a:t>1</a:t>
            </a:r>
            <a:endParaRPr lang="en-US" sz="2400" dirty="0"/>
          </a:p>
        </p:txBody>
      </p:sp>
      <p:sp>
        <p:nvSpPr>
          <p:cNvPr id="9" name="Text 5"/>
          <p:cNvSpPr/>
          <p:nvPr/>
        </p:nvSpPr>
        <p:spPr>
          <a:xfrm>
            <a:off x="2307431" y="2529483"/>
            <a:ext cx="2585561" cy="323255"/>
          </a:xfrm>
          <a:prstGeom prst="rect">
            <a:avLst/>
          </a:prstGeom>
          <a:noFill/>
        </p:spPr>
        <p:txBody>
          <a:bodyPr wrap="none" lIns="0" tIns="0" rIns="0" bIns="0" rtlCol="0" anchor="t"/>
          <a:lstStyle/>
          <a:p>
            <a:pPr marL="0" indent="0" algn="l">
              <a:lnSpc>
                <a:spcPts val="2500"/>
              </a:lnSpc>
              <a:buNone/>
            </a:pPr>
            <a:r>
              <a:rPr lang="en-US" sz="2000" dirty="0">
                <a:solidFill>
                  <a:srgbClr val="CAD6DE"/>
                </a:solidFill>
                <a:latin typeface="Unbounded" pitchFamily="34" charset="0"/>
                <a:ea typeface="Unbounded" pitchFamily="34" charset="-122"/>
                <a:cs typeface="Unbounded" pitchFamily="34" charset="-120"/>
              </a:rPr>
              <a:t>Data Import</a:t>
            </a:r>
            <a:endParaRPr lang="en-US" sz="2000" dirty="0"/>
          </a:p>
        </p:txBody>
      </p:sp>
      <p:sp>
        <p:nvSpPr>
          <p:cNvPr id="10" name="Text 6"/>
          <p:cNvSpPr/>
          <p:nvPr/>
        </p:nvSpPr>
        <p:spPr>
          <a:xfrm>
            <a:off x="2307431" y="2984540"/>
            <a:ext cx="6067425" cy="703183"/>
          </a:xfrm>
          <a:prstGeom prst="rect">
            <a:avLst/>
          </a:prstGeom>
          <a:noFill/>
        </p:spPr>
        <p:txBody>
          <a:bodyPr wrap="square" lIns="0" tIns="0" rIns="0" bIns="0" rtlCol="0" anchor="t"/>
          <a:lstStyle/>
          <a:p>
            <a:pPr marL="0" indent="0" algn="l">
              <a:lnSpc>
                <a:spcPts val="2750"/>
              </a:lnSpc>
              <a:buNone/>
            </a:pPr>
            <a:r>
              <a:rPr lang="en-US" sz="1700" dirty="0">
                <a:solidFill>
                  <a:srgbClr val="CAD6DE"/>
                </a:solidFill>
                <a:latin typeface="Cabin" pitchFamily="34" charset="0"/>
                <a:ea typeface="Cabin" pitchFamily="34" charset="-122"/>
                <a:cs typeface="Cabin" pitchFamily="34" charset="-120"/>
              </a:rPr>
              <a:t>The Zomato dataset was imported into Power BI, providing a foundation for analysis.</a:t>
            </a:r>
            <a:endParaRPr lang="en-US" sz="1700" dirty="0"/>
          </a:p>
        </p:txBody>
      </p:sp>
      <p:sp>
        <p:nvSpPr>
          <p:cNvPr id="11" name="Shape 7"/>
          <p:cNvSpPr/>
          <p:nvPr/>
        </p:nvSpPr>
        <p:spPr>
          <a:xfrm>
            <a:off x="1315462" y="4606171"/>
            <a:ext cx="769144" cy="30480"/>
          </a:xfrm>
          <a:prstGeom prst="roundRect">
            <a:avLst>
              <a:gd name="adj" fmla="val 108157"/>
            </a:avLst>
          </a:prstGeom>
          <a:solidFill>
            <a:srgbClr val="49606E"/>
          </a:solidFill>
        </p:spPr>
      </p:sp>
      <p:sp>
        <p:nvSpPr>
          <p:cNvPr id="12" name="Shape 8"/>
          <p:cNvSpPr/>
          <p:nvPr/>
        </p:nvSpPr>
        <p:spPr>
          <a:xfrm>
            <a:off x="851475" y="4374237"/>
            <a:ext cx="494467" cy="494467"/>
          </a:xfrm>
          <a:prstGeom prst="roundRect">
            <a:avLst>
              <a:gd name="adj" fmla="val 6667"/>
            </a:avLst>
          </a:prstGeom>
          <a:solidFill>
            <a:srgbClr val="304755"/>
          </a:solidFill>
        </p:spPr>
      </p:sp>
      <p:sp>
        <p:nvSpPr>
          <p:cNvPr id="13" name="Text 9"/>
          <p:cNvSpPr/>
          <p:nvPr/>
        </p:nvSpPr>
        <p:spPr>
          <a:xfrm>
            <a:off x="976253" y="4466273"/>
            <a:ext cx="244793" cy="310277"/>
          </a:xfrm>
          <a:prstGeom prst="rect">
            <a:avLst/>
          </a:prstGeom>
          <a:noFill/>
        </p:spPr>
        <p:txBody>
          <a:bodyPr wrap="none" lIns="0" tIns="0" rIns="0" bIns="0" rtlCol="0" anchor="t"/>
          <a:lstStyle/>
          <a:p>
            <a:pPr marL="0" indent="0" algn="ctr">
              <a:lnSpc>
                <a:spcPts val="2400"/>
              </a:lnSpc>
              <a:buNone/>
            </a:pPr>
            <a:r>
              <a:rPr lang="en-US" sz="2400" dirty="0">
                <a:solidFill>
                  <a:srgbClr val="CAD6DE"/>
                </a:solidFill>
                <a:latin typeface="Unbounded" pitchFamily="34" charset="0"/>
                <a:ea typeface="Unbounded" pitchFamily="34" charset="-122"/>
                <a:cs typeface="Unbounded" pitchFamily="34" charset="-120"/>
              </a:rPr>
              <a:t>2</a:t>
            </a:r>
            <a:endParaRPr lang="en-US" sz="2400" dirty="0"/>
          </a:p>
        </p:txBody>
      </p:sp>
      <p:sp>
        <p:nvSpPr>
          <p:cNvPr id="14" name="Text 10"/>
          <p:cNvSpPr/>
          <p:nvPr/>
        </p:nvSpPr>
        <p:spPr>
          <a:xfrm>
            <a:off x="2307431" y="4346734"/>
            <a:ext cx="2585561" cy="323255"/>
          </a:xfrm>
          <a:prstGeom prst="rect">
            <a:avLst/>
          </a:prstGeom>
          <a:noFill/>
        </p:spPr>
        <p:txBody>
          <a:bodyPr wrap="none" lIns="0" tIns="0" rIns="0" bIns="0" rtlCol="0" anchor="t"/>
          <a:lstStyle/>
          <a:p>
            <a:pPr marL="0" indent="0" algn="l">
              <a:lnSpc>
                <a:spcPts val="2500"/>
              </a:lnSpc>
              <a:buNone/>
            </a:pPr>
            <a:r>
              <a:rPr lang="en-US" sz="2000" dirty="0">
                <a:solidFill>
                  <a:srgbClr val="CAD6DE"/>
                </a:solidFill>
                <a:latin typeface="Unbounded" pitchFamily="34" charset="0"/>
                <a:ea typeface="Unbounded" pitchFamily="34" charset="-122"/>
                <a:cs typeface="Unbounded" pitchFamily="34" charset="-120"/>
              </a:rPr>
              <a:t>Data Cleaning</a:t>
            </a:r>
            <a:endParaRPr lang="en-US" sz="2000" dirty="0"/>
          </a:p>
        </p:txBody>
      </p:sp>
      <p:sp>
        <p:nvSpPr>
          <p:cNvPr id="15" name="Text 11"/>
          <p:cNvSpPr/>
          <p:nvPr/>
        </p:nvSpPr>
        <p:spPr>
          <a:xfrm>
            <a:off x="2307431" y="4801791"/>
            <a:ext cx="6067425" cy="703183"/>
          </a:xfrm>
          <a:prstGeom prst="rect">
            <a:avLst/>
          </a:prstGeom>
          <a:noFill/>
        </p:spPr>
        <p:txBody>
          <a:bodyPr wrap="square" lIns="0" tIns="0" rIns="0" bIns="0" rtlCol="0" anchor="t"/>
          <a:lstStyle/>
          <a:p>
            <a:pPr marL="0" indent="0" algn="l">
              <a:lnSpc>
                <a:spcPts val="2750"/>
              </a:lnSpc>
              <a:buNone/>
            </a:pPr>
            <a:r>
              <a:rPr lang="en-US" sz="1700" dirty="0">
                <a:solidFill>
                  <a:srgbClr val="CAD6DE"/>
                </a:solidFill>
                <a:latin typeface="Cabin" pitchFamily="34" charset="0"/>
                <a:ea typeface="Cabin" pitchFamily="34" charset="-122"/>
                <a:cs typeface="Cabin" pitchFamily="34" charset="-120"/>
              </a:rPr>
              <a:t>Unwanted columns were removed, and null values were addressed to ensure data accuracy and consistency.</a:t>
            </a:r>
            <a:endParaRPr lang="en-US" sz="1700" dirty="0"/>
          </a:p>
        </p:txBody>
      </p:sp>
      <p:sp>
        <p:nvSpPr>
          <p:cNvPr id="16" name="Shape 12"/>
          <p:cNvSpPr/>
          <p:nvPr/>
        </p:nvSpPr>
        <p:spPr>
          <a:xfrm>
            <a:off x="1315462" y="6423422"/>
            <a:ext cx="769144" cy="30480"/>
          </a:xfrm>
          <a:prstGeom prst="roundRect">
            <a:avLst>
              <a:gd name="adj" fmla="val 108157"/>
            </a:avLst>
          </a:prstGeom>
          <a:solidFill>
            <a:srgbClr val="49606E"/>
          </a:solidFill>
        </p:spPr>
      </p:sp>
      <p:sp>
        <p:nvSpPr>
          <p:cNvPr id="17" name="Shape 13"/>
          <p:cNvSpPr/>
          <p:nvPr/>
        </p:nvSpPr>
        <p:spPr>
          <a:xfrm>
            <a:off x="851475" y="6191488"/>
            <a:ext cx="494467" cy="494467"/>
          </a:xfrm>
          <a:prstGeom prst="roundRect">
            <a:avLst>
              <a:gd name="adj" fmla="val 6667"/>
            </a:avLst>
          </a:prstGeom>
          <a:solidFill>
            <a:srgbClr val="304755"/>
          </a:solidFill>
        </p:spPr>
      </p:sp>
      <p:sp>
        <p:nvSpPr>
          <p:cNvPr id="18" name="Text 14"/>
          <p:cNvSpPr/>
          <p:nvPr/>
        </p:nvSpPr>
        <p:spPr>
          <a:xfrm>
            <a:off x="973991" y="6283523"/>
            <a:ext cx="249436" cy="310277"/>
          </a:xfrm>
          <a:prstGeom prst="rect">
            <a:avLst/>
          </a:prstGeom>
          <a:noFill/>
        </p:spPr>
        <p:txBody>
          <a:bodyPr wrap="none" lIns="0" tIns="0" rIns="0" bIns="0" rtlCol="0" anchor="t"/>
          <a:lstStyle/>
          <a:p>
            <a:pPr marL="0" indent="0" algn="ctr">
              <a:lnSpc>
                <a:spcPts val="2400"/>
              </a:lnSpc>
              <a:buNone/>
            </a:pPr>
            <a:r>
              <a:rPr lang="en-US" sz="2400" dirty="0">
                <a:solidFill>
                  <a:srgbClr val="CAD6DE"/>
                </a:solidFill>
                <a:latin typeface="Unbounded" pitchFamily="34" charset="0"/>
                <a:ea typeface="Unbounded" pitchFamily="34" charset="-122"/>
                <a:cs typeface="Unbounded" pitchFamily="34" charset="-120"/>
              </a:rPr>
              <a:t>3</a:t>
            </a:r>
            <a:endParaRPr lang="en-US" sz="2400" dirty="0"/>
          </a:p>
        </p:txBody>
      </p:sp>
      <p:sp>
        <p:nvSpPr>
          <p:cNvPr id="19" name="Text 15"/>
          <p:cNvSpPr/>
          <p:nvPr/>
        </p:nvSpPr>
        <p:spPr>
          <a:xfrm>
            <a:off x="2307431" y="6163985"/>
            <a:ext cx="2693432" cy="323255"/>
          </a:xfrm>
          <a:prstGeom prst="rect">
            <a:avLst/>
          </a:prstGeom>
          <a:noFill/>
        </p:spPr>
        <p:txBody>
          <a:bodyPr wrap="none" lIns="0" tIns="0" rIns="0" bIns="0" rtlCol="0" anchor="t"/>
          <a:lstStyle/>
          <a:p>
            <a:pPr marL="0" indent="0" algn="l">
              <a:lnSpc>
                <a:spcPts val="2500"/>
              </a:lnSpc>
              <a:buNone/>
            </a:pPr>
            <a:r>
              <a:rPr lang="en-US" sz="2000" dirty="0">
                <a:solidFill>
                  <a:srgbClr val="CAD6DE"/>
                </a:solidFill>
                <a:latin typeface="Unbounded" pitchFamily="34" charset="0"/>
                <a:ea typeface="Unbounded" pitchFamily="34" charset="-122"/>
                <a:cs typeface="Unbounded" pitchFamily="34" charset="-120"/>
              </a:rPr>
              <a:t>Data Preparation</a:t>
            </a:r>
            <a:endParaRPr lang="en-US" sz="2000" dirty="0"/>
          </a:p>
        </p:txBody>
      </p:sp>
      <p:sp>
        <p:nvSpPr>
          <p:cNvPr id="20" name="Text 16"/>
          <p:cNvSpPr/>
          <p:nvPr/>
        </p:nvSpPr>
        <p:spPr>
          <a:xfrm>
            <a:off x="2307431" y="6619042"/>
            <a:ext cx="6067425" cy="703183"/>
          </a:xfrm>
          <a:prstGeom prst="rect">
            <a:avLst/>
          </a:prstGeom>
          <a:noFill/>
        </p:spPr>
        <p:txBody>
          <a:bodyPr wrap="square" lIns="0" tIns="0" rIns="0" bIns="0" rtlCol="0" anchor="t"/>
          <a:lstStyle/>
          <a:p>
            <a:pPr marL="0" indent="0" algn="l">
              <a:lnSpc>
                <a:spcPts val="2750"/>
              </a:lnSpc>
              <a:buNone/>
            </a:pPr>
            <a:r>
              <a:rPr lang="en-US" sz="1700" dirty="0">
                <a:solidFill>
                  <a:srgbClr val="CAD6DE"/>
                </a:solidFill>
                <a:latin typeface="Cabin" pitchFamily="34" charset="0"/>
                <a:ea typeface="Cabin" pitchFamily="34" charset="-122"/>
                <a:cs typeface="Cabin" pitchFamily="34" charset="-120"/>
              </a:rPr>
              <a:t>Data was prepared for modeling by transforming and standardizing formats to facilitate analysis and visualization.</a:t>
            </a:r>
            <a:endParaRPr lang="en-US" sz="1700" dirty="0"/>
          </a:p>
        </p:txBody>
      </p:sp>
      <p:pic>
        <p:nvPicPr>
          <p:cNvPr id="22" name="Picture 21" descr="th__3_-removebg-preview"/>
          <p:cNvPicPr>
            <a:picLocks noChangeAspect="1"/>
          </p:cNvPicPr>
          <p:nvPr/>
        </p:nvPicPr>
        <p:blipFill>
          <a:blip r:embed="rId2"/>
          <a:stretch>
            <a:fillRect/>
          </a:stretch>
        </p:blipFill>
        <p:spPr>
          <a:xfrm>
            <a:off x="12860020" y="7609840"/>
            <a:ext cx="2014220" cy="671830"/>
          </a:xfrm>
          <a:prstGeom prst="rect">
            <a:avLst/>
          </a:prstGeom>
        </p:spPr>
      </p:pic>
      <p:pic>
        <p:nvPicPr>
          <p:cNvPr id="3" name="Image 1" descr="preencoded.png"/>
          <p:cNvPicPr>
            <a:picLocks noChangeAspect="1"/>
          </p:cNvPicPr>
          <p:nvPr/>
        </p:nvPicPr>
        <p:blipFill>
          <a:blip r:embed="rId3"/>
          <a:stretch>
            <a:fillRect/>
          </a:stretch>
        </p:blipFill>
        <p:spPr>
          <a:xfrm>
            <a:off x="8677632" y="2144395"/>
            <a:ext cx="4936927" cy="40195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4630400" cy="2991803"/>
          </a:xfrm>
          <a:prstGeom prst="rect">
            <a:avLst/>
          </a:prstGeom>
        </p:spPr>
      </p:pic>
      <p:sp>
        <p:nvSpPr>
          <p:cNvPr id="4" name="Text 0"/>
          <p:cNvSpPr/>
          <p:nvPr/>
        </p:nvSpPr>
        <p:spPr>
          <a:xfrm>
            <a:off x="968693" y="3650337"/>
            <a:ext cx="8717161" cy="703898"/>
          </a:xfrm>
          <a:prstGeom prst="rect">
            <a:avLst/>
          </a:prstGeom>
          <a:noFill/>
        </p:spPr>
        <p:txBody>
          <a:bodyPr wrap="none" lIns="0" tIns="0" rIns="0" bIns="0" rtlCol="0" anchor="t"/>
          <a:lstStyle/>
          <a:p>
            <a:pPr marL="0" indent="0">
              <a:lnSpc>
                <a:spcPts val="5500"/>
              </a:lnSpc>
              <a:buNone/>
            </a:pPr>
            <a:r>
              <a:rPr lang="en-US" sz="6000" b="1" dirty="0">
                <a:solidFill>
                  <a:srgbClr val="FFFFFF"/>
                </a:solidFill>
                <a:latin typeface="Times New Roman" panose="02020603050405020304" charset="0"/>
                <a:ea typeface="Unbounded" pitchFamily="34" charset="-122"/>
                <a:cs typeface="Times New Roman" panose="02020603050405020304" charset="0"/>
              </a:rPr>
              <a:t>Data Modeling in Power BI</a:t>
            </a:r>
            <a:endParaRPr lang="en-US" sz="6000" b="1" dirty="0">
              <a:solidFill>
                <a:srgbClr val="FFFFFF"/>
              </a:solidFill>
              <a:latin typeface="Times New Roman" panose="02020603050405020304" charset="0"/>
              <a:ea typeface="Unbounded" pitchFamily="34" charset="-122"/>
              <a:cs typeface="Times New Roman" panose="02020603050405020304" charset="0"/>
            </a:endParaRPr>
          </a:p>
        </p:txBody>
      </p:sp>
      <p:sp>
        <p:nvSpPr>
          <p:cNvPr id="5" name="Shape 1"/>
          <p:cNvSpPr/>
          <p:nvPr/>
        </p:nvSpPr>
        <p:spPr>
          <a:xfrm>
            <a:off x="968693" y="4713208"/>
            <a:ext cx="4071461" cy="2857738"/>
          </a:xfrm>
          <a:prstGeom prst="roundRect">
            <a:avLst>
              <a:gd name="adj" fmla="val 1256"/>
            </a:avLst>
          </a:prstGeom>
          <a:solidFill>
            <a:srgbClr val="304755"/>
          </a:solidFill>
        </p:spPr>
      </p:sp>
      <p:sp>
        <p:nvSpPr>
          <p:cNvPr id="6" name="Text 2"/>
          <p:cNvSpPr/>
          <p:nvPr/>
        </p:nvSpPr>
        <p:spPr>
          <a:xfrm>
            <a:off x="1208008" y="4952524"/>
            <a:ext cx="3592830" cy="703898"/>
          </a:xfrm>
          <a:prstGeom prst="rect">
            <a:avLst/>
          </a:prstGeom>
          <a:noFill/>
        </p:spPr>
        <p:txBody>
          <a:bodyPr wrap="square" lIns="0" tIns="0" rIns="0" bIns="0" rtlCol="0" anchor="t"/>
          <a:lstStyle/>
          <a:p>
            <a:pPr marL="0" indent="0">
              <a:lnSpc>
                <a:spcPts val="2750"/>
              </a:lnSpc>
              <a:buNone/>
            </a:pPr>
            <a:r>
              <a:rPr lang="en-US" sz="2200" dirty="0">
                <a:solidFill>
                  <a:srgbClr val="CAD6DE"/>
                </a:solidFill>
                <a:latin typeface="Unbounded" pitchFamily="34" charset="0"/>
                <a:ea typeface="Unbounded" pitchFamily="34" charset="-122"/>
                <a:cs typeface="Unbounded" pitchFamily="34" charset="-120"/>
              </a:rPr>
              <a:t>Relationship Establishment</a:t>
            </a:r>
            <a:endParaRPr lang="en-US" sz="2200" dirty="0"/>
          </a:p>
        </p:txBody>
      </p:sp>
      <p:sp>
        <p:nvSpPr>
          <p:cNvPr id="7" name="Text 3"/>
          <p:cNvSpPr/>
          <p:nvPr/>
        </p:nvSpPr>
        <p:spPr>
          <a:xfrm>
            <a:off x="1208008" y="5800011"/>
            <a:ext cx="3592830" cy="1531620"/>
          </a:xfrm>
          <a:prstGeom prst="rect">
            <a:avLst/>
          </a:prstGeom>
          <a:noFill/>
        </p:spPr>
        <p:txBody>
          <a:bodyPr wrap="square" lIns="0" tIns="0" rIns="0" bIns="0" rtlCol="0" anchor="t"/>
          <a:lstStyle/>
          <a:p>
            <a:pPr marL="0" indent="0">
              <a:lnSpc>
                <a:spcPts val="3000"/>
              </a:lnSpc>
              <a:buNone/>
            </a:pPr>
            <a:r>
              <a:rPr lang="en-US" sz="1850" dirty="0">
                <a:solidFill>
                  <a:srgbClr val="CAD6DE"/>
                </a:solidFill>
                <a:latin typeface="Cabin" pitchFamily="34" charset="0"/>
                <a:ea typeface="Cabin" pitchFamily="34" charset="-122"/>
                <a:cs typeface="Cabin" pitchFamily="34" charset="-120"/>
              </a:rPr>
              <a:t>Relationships were established between the Zomato and Country Code tables to enable cross-table analysis.</a:t>
            </a:r>
            <a:endParaRPr lang="en-US" sz="1850" dirty="0"/>
          </a:p>
        </p:txBody>
      </p:sp>
      <p:sp>
        <p:nvSpPr>
          <p:cNvPr id="8" name="Shape 4"/>
          <p:cNvSpPr/>
          <p:nvPr/>
        </p:nvSpPr>
        <p:spPr>
          <a:xfrm>
            <a:off x="5279469" y="4713208"/>
            <a:ext cx="4071461" cy="2857738"/>
          </a:xfrm>
          <a:prstGeom prst="roundRect">
            <a:avLst>
              <a:gd name="adj" fmla="val 1256"/>
            </a:avLst>
          </a:prstGeom>
          <a:solidFill>
            <a:srgbClr val="304755"/>
          </a:solidFill>
        </p:spPr>
      </p:sp>
      <p:sp>
        <p:nvSpPr>
          <p:cNvPr id="9" name="Text 5"/>
          <p:cNvSpPr/>
          <p:nvPr/>
        </p:nvSpPr>
        <p:spPr>
          <a:xfrm>
            <a:off x="5518785" y="4952524"/>
            <a:ext cx="3031688" cy="351949"/>
          </a:xfrm>
          <a:prstGeom prst="rect">
            <a:avLst/>
          </a:prstGeom>
          <a:noFill/>
        </p:spPr>
        <p:txBody>
          <a:bodyPr wrap="none" lIns="0" tIns="0" rIns="0" bIns="0" rtlCol="0" anchor="t"/>
          <a:lstStyle/>
          <a:p>
            <a:pPr marL="0" indent="0">
              <a:lnSpc>
                <a:spcPts val="2750"/>
              </a:lnSpc>
              <a:buNone/>
            </a:pPr>
            <a:r>
              <a:rPr lang="en-US" sz="2200" dirty="0">
                <a:solidFill>
                  <a:srgbClr val="CAD6DE"/>
                </a:solidFill>
                <a:latin typeface="Unbounded" pitchFamily="34" charset="0"/>
                <a:ea typeface="Unbounded" pitchFamily="34" charset="-122"/>
                <a:cs typeface="Unbounded" pitchFamily="34" charset="-120"/>
              </a:rPr>
              <a:t>Measure Creation</a:t>
            </a:r>
            <a:endParaRPr lang="en-US" sz="2200" dirty="0"/>
          </a:p>
        </p:txBody>
      </p:sp>
      <p:sp>
        <p:nvSpPr>
          <p:cNvPr id="10" name="Text 6"/>
          <p:cNvSpPr/>
          <p:nvPr/>
        </p:nvSpPr>
        <p:spPr>
          <a:xfrm>
            <a:off x="5518785" y="5448062"/>
            <a:ext cx="3592830" cy="1531620"/>
          </a:xfrm>
          <a:prstGeom prst="rect">
            <a:avLst/>
          </a:prstGeom>
          <a:noFill/>
        </p:spPr>
        <p:txBody>
          <a:bodyPr wrap="square" lIns="0" tIns="0" rIns="0" bIns="0" rtlCol="0" anchor="t"/>
          <a:lstStyle/>
          <a:p>
            <a:pPr marL="0" indent="0">
              <a:lnSpc>
                <a:spcPts val="3000"/>
              </a:lnSpc>
              <a:buNone/>
            </a:pPr>
            <a:r>
              <a:rPr lang="en-US" sz="1850" dirty="0">
                <a:solidFill>
                  <a:srgbClr val="CAD6DE"/>
                </a:solidFill>
                <a:latin typeface="Cabin" pitchFamily="34" charset="0"/>
                <a:ea typeface="Cabin" pitchFamily="34" charset="-122"/>
                <a:cs typeface="Cabin" pitchFamily="34" charset="-120"/>
              </a:rPr>
              <a:t>Measures such as average ratings, restaurant counts, and price range calculations were created to provide meaningful insights.</a:t>
            </a:r>
            <a:endParaRPr lang="en-US" sz="1850" dirty="0"/>
          </a:p>
        </p:txBody>
      </p:sp>
      <p:sp>
        <p:nvSpPr>
          <p:cNvPr id="11" name="Shape 7"/>
          <p:cNvSpPr/>
          <p:nvPr/>
        </p:nvSpPr>
        <p:spPr>
          <a:xfrm>
            <a:off x="9590246" y="4713208"/>
            <a:ext cx="4071461" cy="2857738"/>
          </a:xfrm>
          <a:prstGeom prst="roundRect">
            <a:avLst>
              <a:gd name="adj" fmla="val 1256"/>
            </a:avLst>
          </a:prstGeom>
          <a:solidFill>
            <a:srgbClr val="304755"/>
          </a:solidFill>
        </p:spPr>
      </p:sp>
      <p:sp>
        <p:nvSpPr>
          <p:cNvPr id="12" name="Text 8"/>
          <p:cNvSpPr/>
          <p:nvPr/>
        </p:nvSpPr>
        <p:spPr>
          <a:xfrm>
            <a:off x="9829562" y="4952524"/>
            <a:ext cx="2815828" cy="351949"/>
          </a:xfrm>
          <a:prstGeom prst="rect">
            <a:avLst/>
          </a:prstGeom>
          <a:noFill/>
        </p:spPr>
        <p:txBody>
          <a:bodyPr wrap="none" lIns="0" tIns="0" rIns="0" bIns="0" rtlCol="0" anchor="t"/>
          <a:lstStyle/>
          <a:p>
            <a:pPr marL="0" indent="0">
              <a:lnSpc>
                <a:spcPts val="2750"/>
              </a:lnSpc>
              <a:buNone/>
            </a:pPr>
            <a:r>
              <a:rPr lang="en-US" sz="2200" dirty="0">
                <a:solidFill>
                  <a:srgbClr val="CAD6DE"/>
                </a:solidFill>
                <a:latin typeface="Unbounded" pitchFamily="34" charset="0"/>
                <a:ea typeface="Unbounded" pitchFamily="34" charset="-122"/>
                <a:cs typeface="Unbounded" pitchFamily="34" charset="-120"/>
              </a:rPr>
              <a:t>Data Integrity</a:t>
            </a:r>
            <a:endParaRPr lang="en-US" sz="2200" dirty="0"/>
          </a:p>
        </p:txBody>
      </p:sp>
      <p:sp>
        <p:nvSpPr>
          <p:cNvPr id="13" name="Text 9"/>
          <p:cNvSpPr/>
          <p:nvPr/>
        </p:nvSpPr>
        <p:spPr>
          <a:xfrm>
            <a:off x="9829562" y="5448062"/>
            <a:ext cx="3592830" cy="1531620"/>
          </a:xfrm>
          <a:prstGeom prst="rect">
            <a:avLst/>
          </a:prstGeom>
          <a:noFill/>
        </p:spPr>
        <p:txBody>
          <a:bodyPr wrap="square" lIns="0" tIns="0" rIns="0" bIns="0" rtlCol="0" anchor="t"/>
          <a:lstStyle/>
          <a:p>
            <a:pPr marL="0" indent="0">
              <a:lnSpc>
                <a:spcPts val="3000"/>
              </a:lnSpc>
              <a:buNone/>
            </a:pPr>
            <a:r>
              <a:rPr lang="en-US" sz="1850" dirty="0">
                <a:solidFill>
                  <a:srgbClr val="CAD6DE"/>
                </a:solidFill>
                <a:latin typeface="Cabin" pitchFamily="34" charset="0"/>
                <a:ea typeface="Cabin" pitchFamily="34" charset="-122"/>
                <a:cs typeface="Cabin" pitchFamily="34" charset="-120"/>
              </a:rPr>
              <a:t>Data modeling ensures accurate and consistent representation of data, enabling reliable visualizations and analysis.</a:t>
            </a:r>
            <a:endParaRPr lang="en-US" sz="1850" dirty="0"/>
          </a:p>
        </p:txBody>
      </p:sp>
      <p:pic>
        <p:nvPicPr>
          <p:cNvPr id="15" name="Picture 14" descr="th__3_-removebg-preview"/>
          <p:cNvPicPr>
            <a:picLocks noChangeAspect="1"/>
          </p:cNvPicPr>
          <p:nvPr/>
        </p:nvPicPr>
        <p:blipFill>
          <a:blip r:embed="rId2"/>
          <a:stretch>
            <a:fillRect/>
          </a:stretch>
        </p:blipFill>
        <p:spPr>
          <a:xfrm>
            <a:off x="12860020" y="7597140"/>
            <a:ext cx="2014220" cy="671830"/>
          </a:xfrm>
          <a:prstGeom prst="rect">
            <a:avLst/>
          </a:prstGeom>
        </p:spPr>
      </p:pic>
      <p:pic>
        <p:nvPicPr>
          <p:cNvPr id="21" name="Picture 20" descr="Screenshot 2024-09-13 233150"/>
          <p:cNvPicPr>
            <a:picLocks noChangeAspect="1"/>
          </p:cNvPicPr>
          <p:nvPr/>
        </p:nvPicPr>
        <p:blipFill>
          <a:blip r:embed="rId3"/>
          <a:stretch>
            <a:fillRect/>
          </a:stretch>
        </p:blipFill>
        <p:spPr>
          <a:xfrm>
            <a:off x="4160520" y="175895"/>
            <a:ext cx="4831080" cy="263969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68693" y="1015008"/>
            <a:ext cx="10225445" cy="726043"/>
          </a:xfrm>
          <a:prstGeom prst="rect">
            <a:avLst/>
          </a:prstGeom>
          <a:noFill/>
        </p:spPr>
        <p:txBody>
          <a:bodyPr wrap="none" lIns="0" tIns="0" rIns="0" bIns="0" rtlCol="0" anchor="t"/>
          <a:lstStyle/>
          <a:p>
            <a:pPr marL="0" indent="0">
              <a:lnSpc>
                <a:spcPts val="5700"/>
              </a:lnSpc>
              <a:buNone/>
            </a:pPr>
            <a:r>
              <a:rPr lang="en-US" sz="6000" b="1" dirty="0">
                <a:solidFill>
                  <a:srgbClr val="FFFFFF"/>
                </a:solidFill>
                <a:latin typeface="Times New Roman" panose="02020603050405020304" charset="0"/>
                <a:ea typeface="Unbounded" pitchFamily="34" charset="-122"/>
                <a:cs typeface="Times New Roman" panose="02020603050405020304" charset="0"/>
              </a:rPr>
              <a:t>Data Visualization in Power BI</a:t>
            </a:r>
            <a:endParaRPr lang="en-US" sz="6000" b="1" dirty="0">
              <a:solidFill>
                <a:srgbClr val="FFFFFF"/>
              </a:solidFill>
              <a:latin typeface="Times New Roman" panose="02020603050405020304" charset="0"/>
              <a:ea typeface="Unbounded" pitchFamily="34" charset="-122"/>
              <a:cs typeface="Times New Roman" panose="02020603050405020304" charset="0"/>
            </a:endParaRPr>
          </a:p>
        </p:txBody>
      </p:sp>
      <p:pic>
        <p:nvPicPr>
          <p:cNvPr id="3" name="Image 0" descr="preencoded.png"/>
          <p:cNvPicPr>
            <a:picLocks noChangeAspect="1"/>
          </p:cNvPicPr>
          <p:nvPr/>
        </p:nvPicPr>
        <p:blipFill>
          <a:blip r:embed="rId1"/>
          <a:stretch>
            <a:fillRect/>
          </a:stretch>
        </p:blipFill>
        <p:spPr>
          <a:xfrm>
            <a:off x="968693" y="2234803"/>
            <a:ext cx="2895481" cy="1789509"/>
          </a:xfrm>
          <a:prstGeom prst="rect">
            <a:avLst/>
          </a:prstGeom>
        </p:spPr>
      </p:pic>
      <p:sp>
        <p:nvSpPr>
          <p:cNvPr id="4" name="Text 1"/>
          <p:cNvSpPr/>
          <p:nvPr/>
        </p:nvSpPr>
        <p:spPr>
          <a:xfrm>
            <a:off x="968693" y="4332923"/>
            <a:ext cx="2895481" cy="363141"/>
          </a:xfrm>
          <a:prstGeom prst="rect">
            <a:avLst/>
          </a:prstGeom>
          <a:noFill/>
        </p:spPr>
        <p:txBody>
          <a:bodyPr wrap="none" lIns="0" tIns="0" rIns="0" bIns="0" rtlCol="0" anchor="t"/>
          <a:lstStyle/>
          <a:p>
            <a:pPr marL="0" indent="0" algn="l">
              <a:lnSpc>
                <a:spcPts val="2850"/>
              </a:lnSpc>
              <a:buNone/>
            </a:pPr>
            <a:r>
              <a:rPr lang="en-US" sz="2250" dirty="0">
                <a:solidFill>
                  <a:srgbClr val="CAD6DE"/>
                </a:solidFill>
                <a:latin typeface="Unbounded" pitchFamily="34" charset="0"/>
                <a:ea typeface="Unbounded" pitchFamily="34" charset="-122"/>
                <a:cs typeface="Unbounded" pitchFamily="34" charset="-120"/>
              </a:rPr>
              <a:t>Gauge Visuals</a:t>
            </a:r>
            <a:endParaRPr lang="en-US" sz="2250" dirty="0"/>
          </a:p>
        </p:txBody>
      </p:sp>
      <p:sp>
        <p:nvSpPr>
          <p:cNvPr id="5" name="Text 2"/>
          <p:cNvSpPr/>
          <p:nvPr/>
        </p:nvSpPr>
        <p:spPr>
          <a:xfrm>
            <a:off x="968693" y="4844177"/>
            <a:ext cx="2895481" cy="2370296"/>
          </a:xfrm>
          <a:prstGeom prst="rect">
            <a:avLst/>
          </a:prstGeom>
          <a:noFill/>
        </p:spPr>
        <p:txBody>
          <a:bodyPr wrap="square" lIns="0" tIns="0" rIns="0" bIns="0" rtlCol="0" anchor="t"/>
          <a:lstStyle/>
          <a:p>
            <a:pPr marL="0" indent="0" algn="l">
              <a:lnSpc>
                <a:spcPts val="3100"/>
              </a:lnSpc>
              <a:buNone/>
            </a:pPr>
            <a:r>
              <a:rPr lang="en-US" sz="1900" dirty="0">
                <a:solidFill>
                  <a:srgbClr val="CAD6DE"/>
                </a:solidFill>
                <a:latin typeface="Cabin" pitchFamily="34" charset="0"/>
                <a:ea typeface="Cabin" pitchFamily="34" charset="-122"/>
                <a:cs typeface="Cabin" pitchFamily="34" charset="-120"/>
              </a:rPr>
              <a:t>Gauge charts were used to showcase the average aggregate rating and the highest restaurant cost, providing a visual summary of key metrics.</a:t>
            </a:r>
            <a:endParaRPr lang="en-US" sz="1900" dirty="0"/>
          </a:p>
        </p:txBody>
      </p:sp>
      <p:pic>
        <p:nvPicPr>
          <p:cNvPr id="6" name="Image 1" descr="preencoded.png"/>
          <p:cNvPicPr>
            <a:picLocks noChangeAspect="1"/>
          </p:cNvPicPr>
          <p:nvPr/>
        </p:nvPicPr>
        <p:blipFill>
          <a:blip r:embed="rId2"/>
          <a:stretch>
            <a:fillRect/>
          </a:stretch>
        </p:blipFill>
        <p:spPr>
          <a:xfrm>
            <a:off x="4234458" y="2234803"/>
            <a:ext cx="2895481" cy="1789509"/>
          </a:xfrm>
          <a:prstGeom prst="rect">
            <a:avLst/>
          </a:prstGeom>
        </p:spPr>
      </p:pic>
      <p:sp>
        <p:nvSpPr>
          <p:cNvPr id="7" name="Text 3"/>
          <p:cNvSpPr/>
          <p:nvPr/>
        </p:nvSpPr>
        <p:spPr>
          <a:xfrm>
            <a:off x="4234458" y="4332923"/>
            <a:ext cx="2895481" cy="363141"/>
          </a:xfrm>
          <a:prstGeom prst="rect">
            <a:avLst/>
          </a:prstGeom>
          <a:noFill/>
        </p:spPr>
        <p:txBody>
          <a:bodyPr wrap="none" lIns="0" tIns="0" rIns="0" bIns="0" rtlCol="0" anchor="t"/>
          <a:lstStyle/>
          <a:p>
            <a:pPr marL="0" indent="0" algn="l">
              <a:lnSpc>
                <a:spcPts val="2850"/>
              </a:lnSpc>
              <a:buNone/>
            </a:pPr>
            <a:r>
              <a:rPr lang="en-US" sz="2250" dirty="0">
                <a:solidFill>
                  <a:srgbClr val="CAD6DE"/>
                </a:solidFill>
                <a:latin typeface="Unbounded" pitchFamily="34" charset="0"/>
                <a:ea typeface="Unbounded" pitchFamily="34" charset="-122"/>
                <a:cs typeface="Unbounded" pitchFamily="34" charset="-120"/>
              </a:rPr>
              <a:t>Bar Charts</a:t>
            </a:r>
            <a:endParaRPr lang="en-US" sz="2250" dirty="0"/>
          </a:p>
        </p:txBody>
      </p:sp>
      <p:sp>
        <p:nvSpPr>
          <p:cNvPr id="8" name="Text 4"/>
          <p:cNvSpPr/>
          <p:nvPr/>
        </p:nvSpPr>
        <p:spPr>
          <a:xfrm>
            <a:off x="4234458" y="4844177"/>
            <a:ext cx="2895481" cy="2370296"/>
          </a:xfrm>
          <a:prstGeom prst="rect">
            <a:avLst/>
          </a:prstGeom>
          <a:noFill/>
        </p:spPr>
        <p:txBody>
          <a:bodyPr wrap="square" lIns="0" tIns="0" rIns="0" bIns="0" rtlCol="0" anchor="t"/>
          <a:lstStyle/>
          <a:p>
            <a:pPr marL="0" indent="0" algn="l">
              <a:lnSpc>
                <a:spcPts val="3100"/>
              </a:lnSpc>
              <a:buNone/>
            </a:pPr>
            <a:r>
              <a:rPr lang="en-US" sz="1900" dirty="0">
                <a:solidFill>
                  <a:srgbClr val="CAD6DE"/>
                </a:solidFill>
                <a:latin typeface="Cabin" pitchFamily="34" charset="0"/>
                <a:ea typeface="Cabin" pitchFamily="34" charset="-122"/>
                <a:cs typeface="Cabin" pitchFamily="34" charset="-120"/>
              </a:rPr>
              <a:t>Bar charts displayed the distribution of restaurants based on user ratings, offering insights into customer satisfaction and popularity.</a:t>
            </a:r>
            <a:endParaRPr lang="en-US" sz="1900" dirty="0"/>
          </a:p>
        </p:txBody>
      </p:sp>
      <p:pic>
        <p:nvPicPr>
          <p:cNvPr id="9" name="Image 2" descr="preencoded.png"/>
          <p:cNvPicPr>
            <a:picLocks noChangeAspect="1"/>
          </p:cNvPicPr>
          <p:nvPr/>
        </p:nvPicPr>
        <p:blipFill>
          <a:blip r:embed="rId3"/>
          <a:stretch>
            <a:fillRect/>
          </a:stretch>
        </p:blipFill>
        <p:spPr>
          <a:xfrm>
            <a:off x="7500223" y="2234803"/>
            <a:ext cx="2895481" cy="1789509"/>
          </a:xfrm>
          <a:prstGeom prst="rect">
            <a:avLst/>
          </a:prstGeom>
        </p:spPr>
      </p:pic>
      <p:sp>
        <p:nvSpPr>
          <p:cNvPr id="10" name="Text 5"/>
          <p:cNvSpPr/>
          <p:nvPr/>
        </p:nvSpPr>
        <p:spPr>
          <a:xfrm>
            <a:off x="7500223" y="4332923"/>
            <a:ext cx="2895481" cy="363141"/>
          </a:xfrm>
          <a:prstGeom prst="rect">
            <a:avLst/>
          </a:prstGeom>
          <a:noFill/>
        </p:spPr>
        <p:txBody>
          <a:bodyPr wrap="none" lIns="0" tIns="0" rIns="0" bIns="0" rtlCol="0" anchor="t"/>
          <a:lstStyle/>
          <a:p>
            <a:pPr marL="0" indent="0" algn="l">
              <a:lnSpc>
                <a:spcPts val="2850"/>
              </a:lnSpc>
              <a:buNone/>
            </a:pPr>
            <a:r>
              <a:rPr lang="en-US" sz="2250" dirty="0">
                <a:solidFill>
                  <a:srgbClr val="CAD6DE"/>
                </a:solidFill>
                <a:latin typeface="Unbounded" pitchFamily="34" charset="0"/>
                <a:ea typeface="Unbounded" pitchFamily="34" charset="-122"/>
                <a:cs typeface="Unbounded" pitchFamily="34" charset="-120"/>
              </a:rPr>
              <a:t>Tables</a:t>
            </a:r>
            <a:endParaRPr lang="en-US" sz="2250" dirty="0"/>
          </a:p>
        </p:txBody>
      </p:sp>
      <p:sp>
        <p:nvSpPr>
          <p:cNvPr id="11" name="Text 6"/>
          <p:cNvSpPr/>
          <p:nvPr/>
        </p:nvSpPr>
        <p:spPr>
          <a:xfrm>
            <a:off x="7500223" y="4844177"/>
            <a:ext cx="2895481" cy="2370296"/>
          </a:xfrm>
          <a:prstGeom prst="rect">
            <a:avLst/>
          </a:prstGeom>
          <a:noFill/>
        </p:spPr>
        <p:txBody>
          <a:bodyPr wrap="square" lIns="0" tIns="0" rIns="0" bIns="0" rtlCol="0" anchor="t"/>
          <a:lstStyle/>
          <a:p>
            <a:pPr marL="0" indent="0" algn="l">
              <a:lnSpc>
                <a:spcPts val="3100"/>
              </a:lnSpc>
              <a:buNone/>
            </a:pPr>
            <a:r>
              <a:rPr lang="en-US" sz="1900" dirty="0">
                <a:solidFill>
                  <a:srgbClr val="CAD6DE"/>
                </a:solidFill>
                <a:latin typeface="Cabin" pitchFamily="34" charset="0"/>
                <a:ea typeface="Cabin" pitchFamily="34" charset="-122"/>
                <a:cs typeface="Cabin" pitchFamily="34" charset="-120"/>
              </a:rPr>
              <a:t>Tables presented detailed information about the number of eateries offering various cuisines and the votes received by restaurants.</a:t>
            </a:r>
            <a:endParaRPr lang="en-US" sz="1900" dirty="0"/>
          </a:p>
        </p:txBody>
      </p:sp>
      <p:pic>
        <p:nvPicPr>
          <p:cNvPr id="12" name="Image 3" descr="preencoded.png"/>
          <p:cNvPicPr>
            <a:picLocks noChangeAspect="1"/>
          </p:cNvPicPr>
          <p:nvPr/>
        </p:nvPicPr>
        <p:blipFill>
          <a:blip r:embed="rId4"/>
          <a:stretch>
            <a:fillRect/>
          </a:stretch>
        </p:blipFill>
        <p:spPr>
          <a:xfrm>
            <a:off x="10765988" y="2234803"/>
            <a:ext cx="2895600" cy="1789509"/>
          </a:xfrm>
          <a:prstGeom prst="rect">
            <a:avLst/>
          </a:prstGeom>
        </p:spPr>
      </p:pic>
      <p:sp>
        <p:nvSpPr>
          <p:cNvPr id="13" name="Text 7"/>
          <p:cNvSpPr/>
          <p:nvPr/>
        </p:nvSpPr>
        <p:spPr>
          <a:xfrm>
            <a:off x="10765988" y="4332923"/>
            <a:ext cx="2895600" cy="363141"/>
          </a:xfrm>
          <a:prstGeom prst="rect">
            <a:avLst/>
          </a:prstGeom>
          <a:noFill/>
        </p:spPr>
        <p:txBody>
          <a:bodyPr wrap="none" lIns="0" tIns="0" rIns="0" bIns="0" rtlCol="0" anchor="t"/>
          <a:lstStyle/>
          <a:p>
            <a:pPr marL="0" indent="0" algn="l">
              <a:lnSpc>
                <a:spcPts val="2850"/>
              </a:lnSpc>
              <a:buNone/>
            </a:pPr>
            <a:r>
              <a:rPr lang="en-US" sz="2250" dirty="0">
                <a:solidFill>
                  <a:srgbClr val="CAD6DE"/>
                </a:solidFill>
                <a:latin typeface="Unbounded" pitchFamily="34" charset="0"/>
                <a:ea typeface="Unbounded" pitchFamily="34" charset="-122"/>
                <a:cs typeface="Unbounded" pitchFamily="34" charset="-120"/>
              </a:rPr>
              <a:t>Slicers</a:t>
            </a:r>
            <a:endParaRPr lang="en-US" sz="2250" dirty="0"/>
          </a:p>
        </p:txBody>
      </p:sp>
      <p:sp>
        <p:nvSpPr>
          <p:cNvPr id="14" name="Text 8"/>
          <p:cNvSpPr/>
          <p:nvPr/>
        </p:nvSpPr>
        <p:spPr>
          <a:xfrm>
            <a:off x="10765988" y="4844177"/>
            <a:ext cx="2895600" cy="1975247"/>
          </a:xfrm>
          <a:prstGeom prst="rect">
            <a:avLst/>
          </a:prstGeom>
          <a:noFill/>
        </p:spPr>
        <p:txBody>
          <a:bodyPr wrap="square" lIns="0" tIns="0" rIns="0" bIns="0" rtlCol="0" anchor="t"/>
          <a:lstStyle/>
          <a:p>
            <a:pPr marL="0" indent="0" algn="l">
              <a:lnSpc>
                <a:spcPts val="3100"/>
              </a:lnSpc>
              <a:buNone/>
            </a:pPr>
            <a:r>
              <a:rPr lang="en-US" sz="1900" dirty="0">
                <a:solidFill>
                  <a:srgbClr val="CAD6DE"/>
                </a:solidFill>
                <a:latin typeface="Cabin" pitchFamily="34" charset="0"/>
                <a:ea typeface="Cabin" pitchFamily="34" charset="-122"/>
                <a:cs typeface="Cabin" pitchFamily="34" charset="-120"/>
              </a:rPr>
              <a:t>A country slicer enabled filtering visualizations to gain focused insights for specific countries, providing granular analysis.</a:t>
            </a:r>
            <a:endParaRPr lang="en-US" sz="1900" dirty="0"/>
          </a:p>
        </p:txBody>
      </p:sp>
      <p:pic>
        <p:nvPicPr>
          <p:cNvPr id="16" name="Picture 15" descr="th__3_-removebg-preview"/>
          <p:cNvPicPr>
            <a:picLocks noChangeAspect="1"/>
          </p:cNvPicPr>
          <p:nvPr/>
        </p:nvPicPr>
        <p:blipFill>
          <a:blip r:embed="rId5"/>
          <a:stretch>
            <a:fillRect/>
          </a:stretch>
        </p:blipFill>
        <p:spPr>
          <a:xfrm>
            <a:off x="12860020" y="7597140"/>
            <a:ext cx="2014220" cy="67183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Picture 2" descr="Screenshot 2024-09-14 010759"/>
          <p:cNvPicPr>
            <a:picLocks noChangeAspect="1"/>
          </p:cNvPicPr>
          <p:nvPr/>
        </p:nvPicPr>
        <p:blipFill>
          <a:blip r:embed="rId1"/>
          <a:stretch>
            <a:fillRect/>
          </a:stretch>
        </p:blipFill>
        <p:spPr>
          <a:xfrm>
            <a:off x="0" y="0"/>
            <a:ext cx="14630400" cy="823023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68693" y="2055495"/>
            <a:ext cx="10382726" cy="726043"/>
          </a:xfrm>
          <a:prstGeom prst="rect">
            <a:avLst/>
          </a:prstGeom>
          <a:noFill/>
        </p:spPr>
        <p:txBody>
          <a:bodyPr wrap="none" lIns="0" tIns="0" rIns="0" bIns="0" rtlCol="0" anchor="t"/>
          <a:lstStyle/>
          <a:p>
            <a:pPr marL="0" indent="0">
              <a:lnSpc>
                <a:spcPts val="5700"/>
              </a:lnSpc>
              <a:buNone/>
            </a:pPr>
            <a:r>
              <a:rPr lang="en-US" sz="6000" b="1" dirty="0">
                <a:solidFill>
                  <a:srgbClr val="FFFFFF"/>
                </a:solidFill>
                <a:latin typeface="Times New Roman" panose="02020603050405020304" charset="0"/>
                <a:ea typeface="Unbounded" pitchFamily="34" charset="-122"/>
                <a:cs typeface="Times New Roman" panose="02020603050405020304" charset="0"/>
              </a:rPr>
              <a:t>Key Insights from the Analysis</a:t>
            </a:r>
            <a:endParaRPr lang="en-US" sz="6000" b="1" dirty="0">
              <a:solidFill>
                <a:srgbClr val="FFFFFF"/>
              </a:solidFill>
              <a:latin typeface="Times New Roman" panose="02020603050405020304" charset="0"/>
              <a:ea typeface="Unbounded" pitchFamily="34" charset="-122"/>
              <a:cs typeface="Times New Roman" panose="02020603050405020304" charset="0"/>
            </a:endParaRPr>
          </a:p>
        </p:txBody>
      </p:sp>
      <p:sp>
        <p:nvSpPr>
          <p:cNvPr id="3" name="Text 1"/>
          <p:cNvSpPr/>
          <p:nvPr/>
        </p:nvSpPr>
        <p:spPr>
          <a:xfrm>
            <a:off x="968693" y="3398639"/>
            <a:ext cx="3828931" cy="726281"/>
          </a:xfrm>
          <a:prstGeom prst="rect">
            <a:avLst/>
          </a:prstGeom>
          <a:noFill/>
        </p:spPr>
        <p:txBody>
          <a:bodyPr wrap="square" lIns="0" tIns="0" rIns="0" bIns="0" rtlCol="0" anchor="t"/>
          <a:lstStyle/>
          <a:p>
            <a:pPr marL="0" indent="0">
              <a:lnSpc>
                <a:spcPts val="2850"/>
              </a:lnSpc>
              <a:buNone/>
            </a:pPr>
            <a:r>
              <a:rPr lang="en-US" sz="2250" dirty="0">
                <a:solidFill>
                  <a:srgbClr val="FFFFFF"/>
                </a:solidFill>
                <a:latin typeface="Unbounded" pitchFamily="34" charset="0"/>
                <a:ea typeface="Unbounded" pitchFamily="34" charset="-122"/>
                <a:cs typeface="Unbounded" pitchFamily="34" charset="-120"/>
              </a:rPr>
              <a:t>Overall Restaurant Count</a:t>
            </a:r>
            <a:endParaRPr lang="en-US" sz="2250" dirty="0"/>
          </a:p>
        </p:txBody>
      </p:sp>
      <p:sp>
        <p:nvSpPr>
          <p:cNvPr id="4" name="Text 2"/>
          <p:cNvSpPr/>
          <p:nvPr/>
        </p:nvSpPr>
        <p:spPr>
          <a:xfrm>
            <a:off x="968693" y="4371737"/>
            <a:ext cx="3828931" cy="1580198"/>
          </a:xfrm>
          <a:prstGeom prst="rect">
            <a:avLst/>
          </a:prstGeom>
          <a:noFill/>
        </p:spPr>
        <p:txBody>
          <a:bodyPr wrap="square" lIns="0" tIns="0" rIns="0" bIns="0" rtlCol="0" anchor="t"/>
          <a:lstStyle/>
          <a:p>
            <a:pPr marL="0" indent="0">
              <a:lnSpc>
                <a:spcPts val="3100"/>
              </a:lnSpc>
              <a:buNone/>
            </a:pPr>
            <a:r>
              <a:rPr lang="en-US" sz="1900" dirty="0">
                <a:solidFill>
                  <a:srgbClr val="CAD6DE"/>
                </a:solidFill>
                <a:latin typeface="Cabin" pitchFamily="34" charset="0"/>
                <a:ea typeface="Cabin" pitchFamily="34" charset="-122"/>
                <a:cs typeface="Cabin" pitchFamily="34" charset="-120"/>
              </a:rPr>
              <a:t>A total of 9,551 restaurants were analyzed, providing a comprehensive overview of the food service landscape.</a:t>
            </a:r>
            <a:endParaRPr lang="en-US" sz="1900" dirty="0"/>
          </a:p>
        </p:txBody>
      </p:sp>
      <p:sp>
        <p:nvSpPr>
          <p:cNvPr id="5" name="Text 3"/>
          <p:cNvSpPr/>
          <p:nvPr/>
        </p:nvSpPr>
        <p:spPr>
          <a:xfrm>
            <a:off x="5407462" y="3398639"/>
            <a:ext cx="3334941" cy="363141"/>
          </a:xfrm>
          <a:prstGeom prst="rect">
            <a:avLst/>
          </a:prstGeom>
          <a:noFill/>
        </p:spPr>
        <p:txBody>
          <a:bodyPr wrap="none" lIns="0" tIns="0" rIns="0" bIns="0" rtlCol="0" anchor="t"/>
          <a:lstStyle/>
          <a:p>
            <a:pPr marL="0" indent="0">
              <a:lnSpc>
                <a:spcPts val="2850"/>
              </a:lnSpc>
              <a:buNone/>
            </a:pPr>
            <a:r>
              <a:rPr lang="en-US" sz="2250" dirty="0">
                <a:solidFill>
                  <a:srgbClr val="FFFFFF"/>
                </a:solidFill>
                <a:latin typeface="Unbounded" pitchFamily="34" charset="0"/>
                <a:ea typeface="Unbounded" pitchFamily="34" charset="-122"/>
                <a:cs typeface="Unbounded" pitchFamily="34" charset="-120"/>
              </a:rPr>
              <a:t>Regional Variations</a:t>
            </a:r>
            <a:endParaRPr lang="en-US" sz="2250" dirty="0"/>
          </a:p>
        </p:txBody>
      </p:sp>
      <p:sp>
        <p:nvSpPr>
          <p:cNvPr id="6" name="Text 4"/>
          <p:cNvSpPr/>
          <p:nvPr/>
        </p:nvSpPr>
        <p:spPr>
          <a:xfrm>
            <a:off x="5407462" y="4008596"/>
            <a:ext cx="3828931" cy="1185148"/>
          </a:xfrm>
          <a:prstGeom prst="rect">
            <a:avLst/>
          </a:prstGeom>
          <a:noFill/>
        </p:spPr>
        <p:txBody>
          <a:bodyPr wrap="square" lIns="0" tIns="0" rIns="0" bIns="0" rtlCol="0" anchor="t"/>
          <a:lstStyle/>
          <a:p>
            <a:pPr marL="0" indent="0">
              <a:lnSpc>
                <a:spcPts val="3100"/>
              </a:lnSpc>
              <a:buNone/>
            </a:pPr>
            <a:r>
              <a:rPr lang="en-US" sz="1900" dirty="0">
                <a:solidFill>
                  <a:srgbClr val="CAD6DE"/>
                </a:solidFill>
                <a:latin typeface="Cabin" pitchFamily="34" charset="0"/>
                <a:ea typeface="Cabin" pitchFamily="34" charset="-122"/>
                <a:cs typeface="Cabin" pitchFamily="34" charset="-120"/>
              </a:rPr>
              <a:t>India emerged as the country with the highest number of restaurants, highlighting its vibrant food culture.</a:t>
            </a:r>
            <a:endParaRPr lang="en-US" sz="1900" dirty="0"/>
          </a:p>
        </p:txBody>
      </p:sp>
      <p:sp>
        <p:nvSpPr>
          <p:cNvPr id="7" name="Text 5"/>
          <p:cNvSpPr/>
          <p:nvPr/>
        </p:nvSpPr>
        <p:spPr>
          <a:xfrm>
            <a:off x="9846231" y="3398639"/>
            <a:ext cx="3618905" cy="363141"/>
          </a:xfrm>
          <a:prstGeom prst="rect">
            <a:avLst/>
          </a:prstGeom>
          <a:noFill/>
        </p:spPr>
        <p:txBody>
          <a:bodyPr wrap="none" lIns="0" tIns="0" rIns="0" bIns="0" rtlCol="0" anchor="t"/>
          <a:lstStyle/>
          <a:p>
            <a:pPr marL="0" indent="0">
              <a:lnSpc>
                <a:spcPts val="2850"/>
              </a:lnSpc>
              <a:buNone/>
            </a:pPr>
            <a:r>
              <a:rPr lang="en-US" sz="2250" dirty="0">
                <a:solidFill>
                  <a:srgbClr val="FFFFFF"/>
                </a:solidFill>
                <a:latin typeface="Unbounded" pitchFamily="34" charset="0"/>
                <a:ea typeface="Unbounded" pitchFamily="34" charset="-122"/>
                <a:cs typeface="Unbounded" pitchFamily="34" charset="-120"/>
              </a:rPr>
              <a:t>Restaurant Features</a:t>
            </a:r>
            <a:endParaRPr lang="en-US" sz="2250" dirty="0"/>
          </a:p>
        </p:txBody>
      </p:sp>
      <p:sp>
        <p:nvSpPr>
          <p:cNvPr id="8" name="Text 6"/>
          <p:cNvSpPr/>
          <p:nvPr/>
        </p:nvSpPr>
        <p:spPr>
          <a:xfrm>
            <a:off x="9846231" y="4008596"/>
            <a:ext cx="3828931" cy="1580198"/>
          </a:xfrm>
          <a:prstGeom prst="rect">
            <a:avLst/>
          </a:prstGeom>
          <a:noFill/>
        </p:spPr>
        <p:txBody>
          <a:bodyPr wrap="square" lIns="0" tIns="0" rIns="0" bIns="0" rtlCol="0" anchor="t"/>
          <a:lstStyle/>
          <a:p>
            <a:pPr marL="0" indent="0">
              <a:lnSpc>
                <a:spcPts val="3100"/>
              </a:lnSpc>
              <a:buNone/>
            </a:pPr>
            <a:r>
              <a:rPr lang="en-US" sz="1900" dirty="0">
                <a:solidFill>
                  <a:srgbClr val="CAD6DE"/>
                </a:solidFill>
                <a:latin typeface="Cabin" pitchFamily="34" charset="0"/>
                <a:ea typeface="Cabin" pitchFamily="34" charset="-122"/>
                <a:cs typeface="Cabin" pitchFamily="34" charset="-120"/>
              </a:rPr>
              <a:t>A significant percentage of restaurants offered table booking and online order facilities, indicating the growing trend of convenience.</a:t>
            </a:r>
            <a:endParaRPr lang="en-US" sz="1900" dirty="0"/>
          </a:p>
        </p:txBody>
      </p:sp>
      <p:pic>
        <p:nvPicPr>
          <p:cNvPr id="10" name="Picture 9" descr="th__3_-removebg-preview"/>
          <p:cNvPicPr>
            <a:picLocks noChangeAspect="1"/>
          </p:cNvPicPr>
          <p:nvPr/>
        </p:nvPicPr>
        <p:blipFill>
          <a:blip r:embed="rId1"/>
          <a:stretch>
            <a:fillRect/>
          </a:stretch>
        </p:blipFill>
        <p:spPr>
          <a:xfrm>
            <a:off x="12860020" y="7597140"/>
            <a:ext cx="2014220" cy="67183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4630400" cy="2746375"/>
          </a:xfrm>
          <a:prstGeom prst="rect">
            <a:avLst/>
          </a:prstGeom>
        </p:spPr>
      </p:pic>
      <p:pic>
        <p:nvPicPr>
          <p:cNvPr id="3" name="Image 1" descr="preencoded.png"/>
          <p:cNvPicPr>
            <a:picLocks noChangeAspect="1"/>
          </p:cNvPicPr>
          <p:nvPr/>
        </p:nvPicPr>
        <p:blipFill>
          <a:blip r:embed="rId2"/>
          <a:stretch>
            <a:fillRect/>
          </a:stretch>
        </p:blipFill>
        <p:spPr>
          <a:xfrm>
            <a:off x="6096595" y="221575"/>
            <a:ext cx="2437090" cy="1772603"/>
          </a:xfrm>
          <a:prstGeom prst="rect">
            <a:avLst/>
          </a:prstGeom>
        </p:spPr>
      </p:pic>
      <p:sp>
        <p:nvSpPr>
          <p:cNvPr id="4" name="Text 0"/>
          <p:cNvSpPr/>
          <p:nvPr/>
        </p:nvSpPr>
        <p:spPr>
          <a:xfrm>
            <a:off x="968693" y="2569845"/>
            <a:ext cx="7080409" cy="521256"/>
          </a:xfrm>
          <a:prstGeom prst="rect">
            <a:avLst/>
          </a:prstGeom>
          <a:noFill/>
        </p:spPr>
        <p:txBody>
          <a:bodyPr wrap="none" lIns="0" tIns="0" rIns="0" bIns="0" rtlCol="0" anchor="t"/>
          <a:lstStyle/>
          <a:p>
            <a:pPr marL="0" indent="0">
              <a:lnSpc>
                <a:spcPts val="4100"/>
              </a:lnSpc>
              <a:buNone/>
            </a:pPr>
            <a:r>
              <a:rPr lang="en-US" sz="4800" b="1" dirty="0">
                <a:solidFill>
                  <a:srgbClr val="FFFFFF"/>
                </a:solidFill>
                <a:latin typeface="Times New Roman" panose="02020603050405020304" charset="0"/>
                <a:ea typeface="Unbounded" pitchFamily="34" charset="-122"/>
                <a:cs typeface="Times New Roman" panose="02020603050405020304" charset="0"/>
              </a:rPr>
              <a:t>Business Recommendations</a:t>
            </a:r>
            <a:endParaRPr lang="en-US" sz="4800" b="1" dirty="0">
              <a:solidFill>
                <a:srgbClr val="FFFFFF"/>
              </a:solidFill>
              <a:latin typeface="Times New Roman" panose="02020603050405020304" charset="0"/>
              <a:ea typeface="Unbounded" pitchFamily="34" charset="-122"/>
              <a:cs typeface="Times New Roman" panose="02020603050405020304" charset="0"/>
            </a:endParaRPr>
          </a:p>
        </p:txBody>
      </p:sp>
      <p:pic>
        <p:nvPicPr>
          <p:cNvPr id="5" name="Image 2" descr="preencoded.png"/>
          <p:cNvPicPr>
            <a:picLocks noChangeAspect="1"/>
          </p:cNvPicPr>
          <p:nvPr/>
        </p:nvPicPr>
        <p:blipFill>
          <a:blip r:embed="rId3"/>
          <a:stretch>
            <a:fillRect/>
          </a:stretch>
        </p:blipFill>
        <p:spPr>
          <a:xfrm>
            <a:off x="968693" y="3490317"/>
            <a:ext cx="886301" cy="1418034"/>
          </a:xfrm>
          <a:prstGeom prst="rect">
            <a:avLst/>
          </a:prstGeom>
        </p:spPr>
      </p:pic>
      <p:sp>
        <p:nvSpPr>
          <p:cNvPr id="6" name="Text 1"/>
          <p:cNvSpPr/>
          <p:nvPr/>
        </p:nvSpPr>
        <p:spPr>
          <a:xfrm>
            <a:off x="2120860" y="3667482"/>
            <a:ext cx="3858578" cy="260747"/>
          </a:xfrm>
          <a:prstGeom prst="rect">
            <a:avLst/>
          </a:prstGeom>
          <a:noFill/>
        </p:spPr>
        <p:txBody>
          <a:bodyPr wrap="none" lIns="0" tIns="0" rIns="0" bIns="0" rtlCol="0" anchor="t"/>
          <a:lstStyle/>
          <a:p>
            <a:pPr marL="0" indent="0" algn="l">
              <a:lnSpc>
                <a:spcPts val="2050"/>
              </a:lnSpc>
              <a:buNone/>
            </a:pPr>
            <a:r>
              <a:rPr lang="en-US" sz="1600" dirty="0">
                <a:solidFill>
                  <a:srgbClr val="CAD6DE"/>
                </a:solidFill>
                <a:latin typeface="Unbounded" pitchFamily="34" charset="0"/>
                <a:ea typeface="Unbounded" pitchFamily="34" charset="-122"/>
                <a:cs typeface="Unbounded" pitchFamily="34" charset="-120"/>
              </a:rPr>
              <a:t>Expand Restaurant Categories</a:t>
            </a:r>
            <a:endParaRPr lang="en-US" sz="1600" dirty="0"/>
          </a:p>
        </p:txBody>
      </p:sp>
      <p:sp>
        <p:nvSpPr>
          <p:cNvPr id="7" name="Text 2"/>
          <p:cNvSpPr/>
          <p:nvPr/>
        </p:nvSpPr>
        <p:spPr>
          <a:xfrm>
            <a:off x="2120860" y="4034552"/>
            <a:ext cx="11540728" cy="283607"/>
          </a:xfrm>
          <a:prstGeom prst="rect">
            <a:avLst/>
          </a:prstGeom>
          <a:noFill/>
        </p:spPr>
        <p:txBody>
          <a:bodyPr wrap="none" lIns="0" tIns="0" rIns="0" bIns="0" rtlCol="0" anchor="t"/>
          <a:lstStyle/>
          <a:p>
            <a:pPr marL="0" indent="0" algn="l">
              <a:lnSpc>
                <a:spcPts val="2200"/>
              </a:lnSpc>
              <a:buNone/>
            </a:pPr>
            <a:r>
              <a:rPr lang="en-US" sz="1350" dirty="0">
                <a:solidFill>
                  <a:srgbClr val="CAD6DE"/>
                </a:solidFill>
                <a:latin typeface="Cabin" pitchFamily="34" charset="0"/>
                <a:ea typeface="Cabin" pitchFamily="34" charset="-122"/>
                <a:cs typeface="Cabin" pitchFamily="34" charset="-120"/>
              </a:rPr>
              <a:t>Explore expanding restaurant categories that are underrepresented in specific locations to cater to diverse customer preferences.</a:t>
            </a:r>
            <a:endParaRPr lang="en-US" sz="1350" dirty="0"/>
          </a:p>
        </p:txBody>
      </p:sp>
      <p:pic>
        <p:nvPicPr>
          <p:cNvPr id="8" name="Image 3" descr="preencoded.png"/>
          <p:cNvPicPr>
            <a:picLocks noChangeAspect="1"/>
          </p:cNvPicPr>
          <p:nvPr/>
        </p:nvPicPr>
        <p:blipFill>
          <a:blip r:embed="rId4"/>
          <a:stretch>
            <a:fillRect/>
          </a:stretch>
        </p:blipFill>
        <p:spPr>
          <a:xfrm>
            <a:off x="968693" y="4908352"/>
            <a:ext cx="886301" cy="1418034"/>
          </a:xfrm>
          <a:prstGeom prst="rect">
            <a:avLst/>
          </a:prstGeom>
        </p:spPr>
      </p:pic>
      <p:sp>
        <p:nvSpPr>
          <p:cNvPr id="9" name="Text 3"/>
          <p:cNvSpPr/>
          <p:nvPr/>
        </p:nvSpPr>
        <p:spPr>
          <a:xfrm>
            <a:off x="2120860" y="5085517"/>
            <a:ext cx="5087183" cy="260747"/>
          </a:xfrm>
          <a:prstGeom prst="rect">
            <a:avLst/>
          </a:prstGeom>
          <a:noFill/>
        </p:spPr>
        <p:txBody>
          <a:bodyPr wrap="none" lIns="0" tIns="0" rIns="0" bIns="0" rtlCol="0" anchor="t"/>
          <a:lstStyle/>
          <a:p>
            <a:pPr marL="0" indent="0" algn="l">
              <a:lnSpc>
                <a:spcPts val="2050"/>
              </a:lnSpc>
              <a:buNone/>
            </a:pPr>
            <a:r>
              <a:rPr lang="en-US" sz="1600" dirty="0">
                <a:solidFill>
                  <a:srgbClr val="CAD6DE"/>
                </a:solidFill>
                <a:latin typeface="Unbounded" pitchFamily="34" charset="0"/>
                <a:ea typeface="Unbounded" pitchFamily="34" charset="-122"/>
                <a:cs typeface="Unbounded" pitchFamily="34" charset="-120"/>
              </a:rPr>
              <a:t>Target Locations with Lower Penetration</a:t>
            </a:r>
            <a:endParaRPr lang="en-US" sz="1600" dirty="0"/>
          </a:p>
        </p:txBody>
      </p:sp>
      <p:sp>
        <p:nvSpPr>
          <p:cNvPr id="10" name="Text 4"/>
          <p:cNvSpPr/>
          <p:nvPr/>
        </p:nvSpPr>
        <p:spPr>
          <a:xfrm>
            <a:off x="2120860" y="5452586"/>
            <a:ext cx="11540728" cy="283607"/>
          </a:xfrm>
          <a:prstGeom prst="rect">
            <a:avLst/>
          </a:prstGeom>
          <a:noFill/>
        </p:spPr>
        <p:txBody>
          <a:bodyPr wrap="none" lIns="0" tIns="0" rIns="0" bIns="0" rtlCol="0" anchor="t"/>
          <a:lstStyle/>
          <a:p>
            <a:pPr marL="0" indent="0" algn="l">
              <a:lnSpc>
                <a:spcPts val="2200"/>
              </a:lnSpc>
              <a:buNone/>
            </a:pPr>
            <a:r>
              <a:rPr lang="en-US" sz="1350" dirty="0">
                <a:solidFill>
                  <a:srgbClr val="CAD6DE"/>
                </a:solidFill>
                <a:latin typeface="Cabin" pitchFamily="34" charset="0"/>
                <a:ea typeface="Cabin" pitchFamily="34" charset="-122"/>
                <a:cs typeface="Cabin" pitchFamily="34" charset="-120"/>
              </a:rPr>
              <a:t>Focus on locations with fewer restaurants offering table booking and online orders to tap into potential market opportunities.</a:t>
            </a:r>
            <a:endParaRPr lang="en-US" sz="1350" dirty="0"/>
          </a:p>
        </p:txBody>
      </p:sp>
      <p:pic>
        <p:nvPicPr>
          <p:cNvPr id="11" name="Image 4" descr="preencoded.png"/>
          <p:cNvPicPr>
            <a:picLocks noChangeAspect="1"/>
          </p:cNvPicPr>
          <p:nvPr/>
        </p:nvPicPr>
        <p:blipFill>
          <a:blip r:embed="rId5"/>
          <a:stretch>
            <a:fillRect/>
          </a:stretch>
        </p:blipFill>
        <p:spPr>
          <a:xfrm>
            <a:off x="968693" y="6326386"/>
            <a:ext cx="886301" cy="1418034"/>
          </a:xfrm>
          <a:prstGeom prst="rect">
            <a:avLst/>
          </a:prstGeom>
        </p:spPr>
      </p:pic>
      <p:sp>
        <p:nvSpPr>
          <p:cNvPr id="12" name="Text 5"/>
          <p:cNvSpPr/>
          <p:nvPr/>
        </p:nvSpPr>
        <p:spPr>
          <a:xfrm>
            <a:off x="2120860" y="6503551"/>
            <a:ext cx="3392686" cy="260747"/>
          </a:xfrm>
          <a:prstGeom prst="rect">
            <a:avLst/>
          </a:prstGeom>
          <a:noFill/>
        </p:spPr>
        <p:txBody>
          <a:bodyPr wrap="none" lIns="0" tIns="0" rIns="0" bIns="0" rtlCol="0" anchor="t"/>
          <a:lstStyle/>
          <a:p>
            <a:pPr marL="0" indent="0" algn="l">
              <a:lnSpc>
                <a:spcPts val="2050"/>
              </a:lnSpc>
              <a:buNone/>
            </a:pPr>
            <a:r>
              <a:rPr lang="en-US" sz="1600" dirty="0">
                <a:solidFill>
                  <a:srgbClr val="CAD6DE"/>
                </a:solidFill>
                <a:latin typeface="Unbounded" pitchFamily="34" charset="0"/>
                <a:ea typeface="Unbounded" pitchFamily="34" charset="-122"/>
                <a:cs typeface="Unbounded" pitchFamily="34" charset="-120"/>
              </a:rPr>
              <a:t>Consider Pricing Strategies</a:t>
            </a:r>
            <a:endParaRPr lang="en-US" sz="1600" dirty="0"/>
          </a:p>
        </p:txBody>
      </p:sp>
      <p:sp>
        <p:nvSpPr>
          <p:cNvPr id="13" name="Text 6"/>
          <p:cNvSpPr/>
          <p:nvPr/>
        </p:nvSpPr>
        <p:spPr>
          <a:xfrm>
            <a:off x="2120860" y="6870621"/>
            <a:ext cx="11540728" cy="283607"/>
          </a:xfrm>
          <a:prstGeom prst="rect">
            <a:avLst/>
          </a:prstGeom>
          <a:noFill/>
        </p:spPr>
        <p:txBody>
          <a:bodyPr wrap="none" lIns="0" tIns="0" rIns="0" bIns="0" rtlCol="0" anchor="t"/>
          <a:lstStyle/>
          <a:p>
            <a:pPr marL="0" indent="0" algn="l">
              <a:lnSpc>
                <a:spcPts val="2200"/>
              </a:lnSpc>
              <a:buNone/>
            </a:pPr>
            <a:r>
              <a:rPr lang="en-US" sz="1350" dirty="0">
                <a:solidFill>
                  <a:srgbClr val="CAD6DE"/>
                </a:solidFill>
                <a:latin typeface="Cabin" pitchFamily="34" charset="0"/>
                <a:ea typeface="Cabin" pitchFamily="34" charset="-122"/>
                <a:cs typeface="Cabin" pitchFamily="34" charset="-120"/>
              </a:rPr>
              <a:t>Employ regional analysis to understand pricing trends and develop competitive pricing strategies based on local market conditions.</a:t>
            </a:r>
            <a:endParaRPr lang="en-US" sz="1350" dirty="0"/>
          </a:p>
        </p:txBody>
      </p:sp>
      <p:pic>
        <p:nvPicPr>
          <p:cNvPr id="15" name="Picture 14" descr="th__3_-removebg-preview"/>
          <p:cNvPicPr>
            <a:picLocks noChangeAspect="1"/>
          </p:cNvPicPr>
          <p:nvPr/>
        </p:nvPicPr>
        <p:blipFill>
          <a:blip r:embed="rId6"/>
          <a:stretch>
            <a:fillRect/>
          </a:stretch>
        </p:blipFill>
        <p:spPr>
          <a:xfrm>
            <a:off x="12860020" y="7597140"/>
            <a:ext cx="2014220" cy="67183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10972800" y="0"/>
            <a:ext cx="3657600" cy="8229600"/>
          </a:xfrm>
          <a:prstGeom prst="rect">
            <a:avLst/>
          </a:prstGeom>
        </p:spPr>
      </p:pic>
      <p:sp>
        <p:nvSpPr>
          <p:cNvPr id="3" name="Text 0"/>
          <p:cNvSpPr/>
          <p:nvPr/>
        </p:nvSpPr>
        <p:spPr>
          <a:xfrm>
            <a:off x="681871" y="691396"/>
            <a:ext cx="4584025" cy="572929"/>
          </a:xfrm>
          <a:prstGeom prst="rect">
            <a:avLst/>
          </a:prstGeom>
          <a:noFill/>
        </p:spPr>
        <p:txBody>
          <a:bodyPr wrap="none" lIns="0" tIns="0" rIns="0" bIns="0" rtlCol="0" anchor="t"/>
          <a:lstStyle/>
          <a:p>
            <a:pPr marL="0" indent="0">
              <a:lnSpc>
                <a:spcPts val="4500"/>
              </a:lnSpc>
              <a:buNone/>
            </a:pPr>
            <a:r>
              <a:rPr lang="en-US" sz="6600" b="1" dirty="0">
                <a:solidFill>
                  <a:srgbClr val="FFFFFF"/>
                </a:solidFill>
                <a:latin typeface="Times New Roman" panose="02020603050405020304" charset="0"/>
                <a:ea typeface="Unbounded" pitchFamily="34" charset="-122"/>
                <a:cs typeface="Times New Roman" panose="02020603050405020304" charset="0"/>
              </a:rPr>
              <a:t>Conclusion</a:t>
            </a:r>
            <a:endParaRPr lang="en-US" sz="6600" b="1" dirty="0">
              <a:solidFill>
                <a:srgbClr val="FFFFFF"/>
              </a:solidFill>
              <a:latin typeface="Times New Roman" panose="02020603050405020304" charset="0"/>
              <a:ea typeface="Unbounded" pitchFamily="34" charset="-122"/>
              <a:cs typeface="Times New Roman" panose="02020603050405020304" charset="0"/>
            </a:endParaRPr>
          </a:p>
        </p:txBody>
      </p:sp>
      <p:pic>
        <p:nvPicPr>
          <p:cNvPr id="4" name="Image 1" descr="preencoded.png"/>
          <p:cNvPicPr>
            <a:picLocks noChangeAspect="1"/>
          </p:cNvPicPr>
          <p:nvPr/>
        </p:nvPicPr>
        <p:blipFill>
          <a:blip r:embed="rId2"/>
          <a:stretch>
            <a:fillRect/>
          </a:stretch>
        </p:blipFill>
        <p:spPr>
          <a:xfrm>
            <a:off x="681871" y="1556504"/>
            <a:ext cx="486966" cy="486966"/>
          </a:xfrm>
          <a:prstGeom prst="rect">
            <a:avLst/>
          </a:prstGeom>
        </p:spPr>
      </p:pic>
      <p:sp>
        <p:nvSpPr>
          <p:cNvPr id="5" name="Text 1"/>
          <p:cNvSpPr/>
          <p:nvPr/>
        </p:nvSpPr>
        <p:spPr>
          <a:xfrm>
            <a:off x="681871" y="2238256"/>
            <a:ext cx="3020378" cy="286464"/>
          </a:xfrm>
          <a:prstGeom prst="rect">
            <a:avLst/>
          </a:prstGeom>
          <a:noFill/>
        </p:spPr>
        <p:txBody>
          <a:bodyPr wrap="none" lIns="0" tIns="0" rIns="0" bIns="0" rtlCol="0" anchor="t"/>
          <a:lstStyle/>
          <a:p>
            <a:pPr marL="0" indent="0" algn="l">
              <a:lnSpc>
                <a:spcPts val="2250"/>
              </a:lnSpc>
              <a:buNone/>
            </a:pPr>
            <a:r>
              <a:rPr lang="en-US" sz="1800" dirty="0">
                <a:solidFill>
                  <a:srgbClr val="CAD6DE"/>
                </a:solidFill>
                <a:latin typeface="Unbounded" pitchFamily="34" charset="0"/>
                <a:ea typeface="Unbounded" pitchFamily="34" charset="-122"/>
                <a:cs typeface="Unbounded" pitchFamily="34" charset="-120"/>
              </a:rPr>
              <a:t>Data-Driven Decisions</a:t>
            </a:r>
            <a:endParaRPr lang="en-US" sz="1800" dirty="0"/>
          </a:p>
        </p:txBody>
      </p:sp>
      <p:sp>
        <p:nvSpPr>
          <p:cNvPr id="6" name="Text 2"/>
          <p:cNvSpPr/>
          <p:nvPr/>
        </p:nvSpPr>
        <p:spPr>
          <a:xfrm>
            <a:off x="681871" y="2641521"/>
            <a:ext cx="9609058" cy="623173"/>
          </a:xfrm>
          <a:prstGeom prst="rect">
            <a:avLst/>
          </a:prstGeom>
          <a:noFill/>
        </p:spPr>
        <p:txBody>
          <a:bodyPr wrap="square" lIns="0" tIns="0" rIns="0" bIns="0" rtlCol="0" anchor="t"/>
          <a:lstStyle/>
          <a:p>
            <a:pPr marL="0" indent="0" algn="l">
              <a:lnSpc>
                <a:spcPts val="2450"/>
              </a:lnSpc>
              <a:buNone/>
            </a:pPr>
            <a:r>
              <a:rPr lang="en-US" sz="1500" dirty="0">
                <a:solidFill>
                  <a:srgbClr val="CAD6DE"/>
                </a:solidFill>
                <a:latin typeface="Cabin" pitchFamily="34" charset="0"/>
                <a:ea typeface="Cabin" pitchFamily="34" charset="-122"/>
                <a:cs typeface="Cabin" pitchFamily="34" charset="-120"/>
              </a:rPr>
              <a:t>The insights gained from this analysis provide a strong foundation for making data-driven decisions that can optimize business operations.</a:t>
            </a:r>
            <a:endParaRPr lang="en-US" sz="1500" dirty="0"/>
          </a:p>
        </p:txBody>
      </p:sp>
      <p:pic>
        <p:nvPicPr>
          <p:cNvPr id="7" name="Image 2" descr="preencoded.png"/>
          <p:cNvPicPr>
            <a:picLocks noChangeAspect="1"/>
          </p:cNvPicPr>
          <p:nvPr/>
        </p:nvPicPr>
        <p:blipFill>
          <a:blip r:embed="rId3"/>
          <a:stretch>
            <a:fillRect/>
          </a:stretch>
        </p:blipFill>
        <p:spPr>
          <a:xfrm>
            <a:off x="681871" y="3849053"/>
            <a:ext cx="486966" cy="486966"/>
          </a:xfrm>
          <a:prstGeom prst="rect">
            <a:avLst/>
          </a:prstGeom>
        </p:spPr>
      </p:pic>
      <p:sp>
        <p:nvSpPr>
          <p:cNvPr id="8" name="Text 3"/>
          <p:cNvSpPr/>
          <p:nvPr/>
        </p:nvSpPr>
        <p:spPr>
          <a:xfrm>
            <a:off x="681871" y="4530804"/>
            <a:ext cx="3138368" cy="286464"/>
          </a:xfrm>
          <a:prstGeom prst="rect">
            <a:avLst/>
          </a:prstGeom>
          <a:noFill/>
        </p:spPr>
        <p:txBody>
          <a:bodyPr wrap="none" lIns="0" tIns="0" rIns="0" bIns="0" rtlCol="0" anchor="t"/>
          <a:lstStyle/>
          <a:p>
            <a:pPr marL="0" indent="0" algn="l">
              <a:lnSpc>
                <a:spcPts val="2250"/>
              </a:lnSpc>
              <a:buNone/>
            </a:pPr>
            <a:r>
              <a:rPr lang="en-US" sz="1800" dirty="0">
                <a:solidFill>
                  <a:srgbClr val="CAD6DE"/>
                </a:solidFill>
                <a:latin typeface="Unbounded" pitchFamily="34" charset="0"/>
                <a:ea typeface="Unbounded" pitchFamily="34" charset="-122"/>
                <a:cs typeface="Unbounded" pitchFamily="34" charset="-120"/>
              </a:rPr>
              <a:t>Continuous Monitoring</a:t>
            </a:r>
            <a:endParaRPr lang="en-US" sz="1800" dirty="0"/>
          </a:p>
        </p:txBody>
      </p:sp>
      <p:sp>
        <p:nvSpPr>
          <p:cNvPr id="9" name="Text 4"/>
          <p:cNvSpPr/>
          <p:nvPr/>
        </p:nvSpPr>
        <p:spPr>
          <a:xfrm>
            <a:off x="681871" y="4934069"/>
            <a:ext cx="9609058" cy="311587"/>
          </a:xfrm>
          <a:prstGeom prst="rect">
            <a:avLst/>
          </a:prstGeom>
          <a:noFill/>
        </p:spPr>
        <p:txBody>
          <a:bodyPr wrap="none" lIns="0" tIns="0" rIns="0" bIns="0" rtlCol="0" anchor="t"/>
          <a:lstStyle/>
          <a:p>
            <a:pPr marL="0" indent="0" algn="l">
              <a:lnSpc>
                <a:spcPts val="2450"/>
              </a:lnSpc>
              <a:buNone/>
            </a:pPr>
            <a:r>
              <a:rPr lang="en-US" sz="1500" dirty="0">
                <a:solidFill>
                  <a:srgbClr val="CAD6DE"/>
                </a:solidFill>
                <a:latin typeface="Cabin" pitchFamily="34" charset="0"/>
                <a:ea typeface="Cabin" pitchFamily="34" charset="-122"/>
                <a:cs typeface="Cabin" pitchFamily="34" charset="-120"/>
              </a:rPr>
              <a:t>Regular data analysis and monitoring are crucial for staying ahead of market trends and ensuring long-term success.</a:t>
            </a:r>
            <a:endParaRPr lang="en-US" sz="1500" dirty="0"/>
          </a:p>
        </p:txBody>
      </p:sp>
      <p:pic>
        <p:nvPicPr>
          <p:cNvPr id="10" name="Image 3" descr="preencoded.png"/>
          <p:cNvPicPr>
            <a:picLocks noChangeAspect="1"/>
          </p:cNvPicPr>
          <p:nvPr/>
        </p:nvPicPr>
        <p:blipFill>
          <a:blip r:embed="rId4"/>
          <a:stretch>
            <a:fillRect/>
          </a:stretch>
        </p:blipFill>
        <p:spPr>
          <a:xfrm>
            <a:off x="681871" y="5830014"/>
            <a:ext cx="486966" cy="486966"/>
          </a:xfrm>
          <a:prstGeom prst="rect">
            <a:avLst/>
          </a:prstGeom>
        </p:spPr>
      </p:pic>
      <p:sp>
        <p:nvSpPr>
          <p:cNvPr id="11" name="Text 5"/>
          <p:cNvSpPr/>
          <p:nvPr/>
        </p:nvSpPr>
        <p:spPr>
          <a:xfrm>
            <a:off x="681871" y="6511766"/>
            <a:ext cx="3266480" cy="286464"/>
          </a:xfrm>
          <a:prstGeom prst="rect">
            <a:avLst/>
          </a:prstGeom>
          <a:noFill/>
        </p:spPr>
        <p:txBody>
          <a:bodyPr wrap="none" lIns="0" tIns="0" rIns="0" bIns="0" rtlCol="0" anchor="t"/>
          <a:lstStyle/>
          <a:p>
            <a:pPr marL="0" indent="0" algn="l">
              <a:lnSpc>
                <a:spcPts val="2250"/>
              </a:lnSpc>
              <a:buNone/>
            </a:pPr>
            <a:r>
              <a:rPr lang="en-US" sz="1800" dirty="0">
                <a:solidFill>
                  <a:srgbClr val="CAD6DE"/>
                </a:solidFill>
                <a:latin typeface="Unbounded" pitchFamily="34" charset="0"/>
                <a:ea typeface="Unbounded" pitchFamily="34" charset="-122"/>
                <a:cs typeface="Unbounded" pitchFamily="34" charset="-120"/>
              </a:rPr>
              <a:t>Competitive Advantage</a:t>
            </a:r>
            <a:endParaRPr lang="en-US" sz="1800" dirty="0"/>
          </a:p>
        </p:txBody>
      </p:sp>
      <p:sp>
        <p:nvSpPr>
          <p:cNvPr id="12" name="Text 6"/>
          <p:cNvSpPr/>
          <p:nvPr/>
        </p:nvSpPr>
        <p:spPr>
          <a:xfrm>
            <a:off x="681871" y="6915031"/>
            <a:ext cx="9609058" cy="623173"/>
          </a:xfrm>
          <a:prstGeom prst="rect">
            <a:avLst/>
          </a:prstGeom>
          <a:noFill/>
        </p:spPr>
        <p:txBody>
          <a:bodyPr wrap="square" lIns="0" tIns="0" rIns="0" bIns="0" rtlCol="0" anchor="t"/>
          <a:lstStyle/>
          <a:p>
            <a:pPr marL="0" indent="0" algn="l">
              <a:lnSpc>
                <a:spcPts val="2450"/>
              </a:lnSpc>
              <a:buNone/>
            </a:pPr>
            <a:r>
              <a:rPr lang="en-US" sz="1500" dirty="0">
                <a:solidFill>
                  <a:srgbClr val="CAD6DE"/>
                </a:solidFill>
                <a:latin typeface="Cabin" pitchFamily="34" charset="0"/>
                <a:ea typeface="Cabin" pitchFamily="34" charset="-122"/>
                <a:cs typeface="Cabin" pitchFamily="34" charset="-120"/>
              </a:rPr>
              <a:t>Leveraging data-driven insights enables businesses to gain a competitive advantage in the ever-evolving food service industry.</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Screenshot 2024-09-14 001422"/>
          <p:cNvPicPr>
            <a:picLocks noChangeAspect="1"/>
          </p:cNvPicPr>
          <p:nvPr/>
        </p:nvPicPr>
        <p:blipFill>
          <a:blip r:embed="rId1"/>
          <a:stretch>
            <a:fillRect/>
          </a:stretch>
        </p:blipFill>
        <p:spPr>
          <a:xfrm>
            <a:off x="0" y="0"/>
            <a:ext cx="14629765" cy="82296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3865</Words>
  <Application>WPS Presentation</Application>
  <PresentationFormat>On-screen Show (16:9)</PresentationFormat>
  <Paragraphs>139</Paragraphs>
  <Slides>12</Slides>
  <Notes>9</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12</vt:i4>
      </vt:variant>
    </vt:vector>
  </HeadingPairs>
  <TitlesOfParts>
    <vt:vector size="26" baseType="lpstr">
      <vt:lpstr>Arial</vt:lpstr>
      <vt:lpstr>SimSun</vt:lpstr>
      <vt:lpstr>Wingdings</vt:lpstr>
      <vt:lpstr>Times New Roman</vt:lpstr>
      <vt:lpstr>Unbounded</vt:lpstr>
      <vt:lpstr>Cabin</vt:lpstr>
      <vt:lpstr>Unbounded</vt:lpstr>
      <vt:lpstr>Unbounded</vt:lpstr>
      <vt:lpstr>Cabin</vt:lpstr>
      <vt:lpstr>Cabin</vt:lpstr>
      <vt:lpstr>Microsoft YaHei</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PRAJES DAS</cp:lastModifiedBy>
  <cp:revision>11</cp:revision>
  <dcterms:created xsi:type="dcterms:W3CDTF">2024-09-11T07:36:00Z</dcterms:created>
  <dcterms:modified xsi:type="dcterms:W3CDTF">2024-09-13T19:38:48Z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5BD9C11E2F03495BB485AF3DBFDCE83A_13</vt:lpwstr>
  </property>
  <property fmtid="{D5CDD505-2E9C-101B-9397-08002B2CF9AE}" pid="3" name="KSOProductBuildVer">
    <vt:lpwstr>1033-12.2.0.17562</vt:lpwstr>
  </property>
</Properties>
</file>